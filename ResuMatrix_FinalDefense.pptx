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1732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ResuMatrix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21408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</a:rPr>
              <a:t>AI-Powered Resume Analysis &amp; Job Matching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798064"/>
            <a:ext cx="5029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944368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A8B8C8"/>
                </a:solidFill>
              </a:rPr>
              <a:t>Amrit College, Tribhuvan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9184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Alex Phuyal (79010151) • Abishek Khadka (79010149) • Biraj Sapkota (79010173)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Supervisor: Er. Akkal Bist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694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676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92024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B.Sc. CSIT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2377440"/>
            <a:ext cx="29260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A8B8C8"/>
                </a:solidFill>
              </a:rPr>
              <a:t>Final Year Project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798064"/>
            <a:ext cx="2103120" cy="640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2944368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Final Defense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749039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>
                <a:solidFill>
                  <a:srgbClr val="A8B8C8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96112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20240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944368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3968496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68496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Algorithms — Non-Prompting ML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896112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896112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System Architecture &amp;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1920240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1920240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1728" y="2944368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2944368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Implementation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1728" y="3968496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3968496"/>
            <a:ext cx="3474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Conclusion &amp; Future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841248"/>
            <a:ext cx="2834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100s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16736"/>
            <a:ext cx="26517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of listings scanned manually per search, most irrelevant to the candidate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841248"/>
            <a:ext cx="2834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16736"/>
            <a:ext cx="26517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objective personalized fit signal offered by today's job 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841248"/>
            <a:ext cx="2834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316736"/>
            <a:ext cx="26517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resume tailoring per posting — slow, inconsistent, often skipped entirely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05740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487168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2487168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450592"/>
            <a:ext cx="8321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Job seekers must manually cross-reference every listing against their own resume — slow, inconsistent, and easy to get wrong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108960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" y="310896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072384"/>
            <a:ext cx="8321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Existing job boards surface listings but compute no personalized fit signal; resume tools improve writing but never compare against a specific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3730752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" y="3730752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94176"/>
            <a:ext cx="8321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No single tool closes the loop: parse the resume once, then use it to both rank incoming listings and generate job-specific edit suggestions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389120"/>
            <a:ext cx="8814816" cy="5669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4389120"/>
            <a:ext cx="86319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💡 Solution: ResuMatrix — parse a resume once, then use it to score, rank &amp; optimize applications against live job listings, end-to-end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1" y="987552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📄 Resume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1389888"/>
            <a:ext cx="404164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Extract contact info, skills, experience &amp; education from PDF/DOCX via regex + fuzzy/TF-IDF segmenter + BERT NER + gazetteer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896112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896112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987552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🎯 Job Match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389888"/>
            <a:ext cx="404164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Blend lexical (TF-IDF), semantic (sentence embeddings) &amp; skill-overlap signals into a single 1–10 match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286000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" y="2286000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1" y="2377440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✍️ Resume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1" y="2779776"/>
            <a:ext cx="404164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Suggest job-targeted skill &amp; bullet edits from the same scoring signals — never fabricating a claim the user didn't make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2286000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286000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2377440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🔐 Secure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779776"/>
            <a:ext cx="404164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Local email/password (Argon2 + JWT) and Google OAuth 2.0 sign-in converge on one session mechanism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675887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4592" y="3675887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1" y="3767327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📋 Application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1" y="4169663"/>
            <a:ext cx="404164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Track saved jobs through Saved → Applied → Interview → Offer / Rejected stages with timestamps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3675887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1728" y="3675887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767327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📑 Optimized PDF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169663"/>
            <a:ext cx="404164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Downloadable, ATS-formatted resume PDF tailored to a specific job, generated server-side with ReportLab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54864" cy="7498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50976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98448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Devlin et al., 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005840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Pretrained bidirectional transformer for language understanding — foundation of the NER model used for name / organization / location extraction.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737360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17373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792224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Sentence-BERT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39696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Reimers &amp; Gurevych,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847088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Siamese BERT sentence embeddings for semantic similarity — basis of the semantic-match signal in job scoring.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78608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" y="2578608"/>
            <a:ext cx="54864" cy="7498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633472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TF-IDF Term Weighting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80944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Salton &amp; Buckley, 1988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688336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Classical term-weighting for text retrieval — used for lexical resume-job similarity and section classification.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3419856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" y="3419856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47472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spaCy / Industrial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82219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Honnibal &amp; Montani,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29584"/>
            <a:ext cx="6492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Industrial-strength NLP with Bloom embeddings — powers the gazetteer-based skill / title / degree matcher.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Algorithms — Non-Prompting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822960"/>
            <a:ext cx="88148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① Resume Parsing (Regex + Fuzzy/TF-IDF Segmenter + BERT NER + Gazetteer)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6128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16128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Resume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28016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6775" y="116128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6775" y="116128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Regex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7" y="128016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16128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16128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Segment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28016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1144" y="116128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16128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BERT NER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128016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7" y="116128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7" y="116128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Gazetteer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28016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5511" y="1161288"/>
            <a:ext cx="1353312" cy="62179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1" y="116128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Structured</a:t>
            </a:r>
          </a:p>
          <a:p>
            <a:pPr algn="ctr"/>
            <a:r>
              <a:rPr sz="1100" b="1">
                <a:solidFill>
                  <a:srgbClr val="0D1B2A"/>
                </a:solidFill>
              </a:rP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" y="1920240"/>
            <a:ext cx="88148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② Job Match Scoring (TF-IDF + Sentence-BERT + Skill Overlap)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225856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" y="225856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Profile +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Job Desc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7904" y="237744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36775" y="225856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36775" y="225856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TF-IDF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Cosine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0087" y="237744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225856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225856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Sentence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Embed 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237744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81144" y="225856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225856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Skill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Overlap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4456" y="237744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3327" y="225856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7" y="225856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Weighted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Blend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37744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1" y="2258568"/>
            <a:ext cx="1353312" cy="62179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1" y="225856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Match</a:t>
            </a:r>
          </a:p>
          <a:p>
            <a:pPr algn="ctr"/>
            <a:r>
              <a:rPr sz="1100" b="1">
                <a:solidFill>
                  <a:srgbClr val="0D1B2A"/>
                </a:solidFill>
              </a:rPr>
              <a:t>Score 1-10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" y="3017520"/>
            <a:ext cx="88148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③ Resume Optimization (Sentence Embeddings + Term Frequency + Regex)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335584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335584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Job +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7904" y="347472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36775" y="335584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36775" y="335584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Bullet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0087" y="347472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335584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335584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Rank Missing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Skills (TF)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2272" y="347472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81144" y="335584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1144" y="335584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Detect Quant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Gaps (Regex)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34456" y="347472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3327" y="3355848"/>
            <a:ext cx="13533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7" y="335584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Rescore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(ATS)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474720"/>
            <a:ext cx="118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A8B8C8"/>
                </a:solidFill>
              </a:rPr>
              <a:t>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1" y="3355848"/>
            <a:ext cx="1353312" cy="62179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5511" y="3355848"/>
            <a:ext cx="135331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Suggested</a:t>
            </a:r>
          </a:p>
          <a:p>
            <a:pPr algn="ctr"/>
            <a:r>
              <a:rPr sz="1100" b="1">
                <a:solidFill>
                  <a:srgbClr val="0D1B2A"/>
                </a:solidFill>
              </a:rPr>
              <a:t>Edits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4592" y="4114800"/>
            <a:ext cx="8814816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" y="4160520"/>
            <a:ext cx="2377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Match Score Formula: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4160520"/>
            <a:ext cx="6309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score = 0.5·skill_overlap + 0.25·TF-IDF_cosine + 0.25·semantic_cosine  (scaled to 1–10)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2608" y="4480560"/>
            <a:ext cx="8503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A8B8C8"/>
                </a:solidFill>
              </a:rPr>
              <a:t>④ Authentication (Cryptographic, non-ML): Argon2 password hashing (pwdlib) + JWT (HS256) session tokens, 7-day expiry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&amp;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CLIENT SIDE (React 19 + TypeScript SPA)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98448"/>
            <a:ext cx="1097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298448"/>
            <a:ext cx="27980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React Router v7 — public Landing/Login/Register; Dashboard/JobBoard/ProfileSetup behind ProtectedRoute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993391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993391"/>
            <a:ext cx="1097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93391"/>
            <a:ext cx="27980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TanStack Query (server-state cache) + Zustand (auth identity store)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688335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688335"/>
            <a:ext cx="1097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API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688335"/>
            <a:ext cx="27980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axios instance — JWT-attaching request interceptor; 401 auto-redirect to 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383279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383279"/>
            <a:ext cx="1097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ProfileSetup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383279"/>
            <a:ext cx="27980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Gap-filling form — resume-locked fields disabled; location/experience required via Zod + RHF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078223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4078223"/>
            <a:ext cx="1097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JobBoard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078223"/>
            <a:ext cx="27980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 cards with match-score badge; JobDetailModal lazily fetches ATS analysis on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194560"/>
            <a:ext cx="51206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00B4D8"/>
                </a:solidFill>
              </a:rPr>
              <a:t>HTTPS</a:t>
            </a:r>
          </a:p>
          <a:p>
            <a:pPr algn="ctr"/>
            <a:r>
              <a:rPr sz="800">
                <a:solidFill>
                  <a:srgbClr val="00B4D8"/>
                </a:solidFill>
              </a:rPr>
              <a:t>▶▶</a:t>
            </a:r>
          </a:p>
          <a:p>
            <a:pPr algn="ctr"/>
            <a:r>
              <a:rPr sz="800">
                <a:solidFill>
                  <a:srgbClr val="00B4D8"/>
                </a:solidFill>
              </a:rPr>
              <a:t>REST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BACKEND SERVER (FastAPI — Railway)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82896" y="1298448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1298448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FastAPI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298448"/>
            <a:ext cx="25237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7 routers under /api — auth, google, profile, resume, jobs, applications,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2896" y="1993391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4336" y="1993391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ML Resume Parser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993391"/>
            <a:ext cx="25237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Regex + fuzzy/TF-IDF segmenter + BERT NER + gazetteer, run via run_in_threadpool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82896" y="2688335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4336" y="2688335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ATS Scoring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2688335"/>
            <a:ext cx="25237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TF-IDF + sentence embeddings + skill overlap → blended 1–10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82896" y="3383279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3383279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Optimizer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383279"/>
            <a:ext cx="25237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Reuses ATS scoring; bullet-injection + missing-skill + quantification-gap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82896" y="4078223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4078223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job_service.py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078223"/>
            <a:ext cx="25237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JSearch API wrapper behind a 15-minute in-memory cache keyed on query params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298448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React 19.2 + 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194560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Vite 8 — build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3090672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Tailwind CSS v4 + shadcn/ui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986783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TanStack Query v5 + Zustand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82296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05456" y="1298448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Python 3.13 — FastAPI 0.136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5456" y="2194560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Uvicorn ASGI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05456" y="3090672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SQLAlchemy 2.0 + Alembic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05456" y="3986783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0288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8" y="82296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AI / NLP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90288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3" y="1298448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spaCy 3.8 (en_core_web_sm)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90288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18303" y="2194560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scikit-learn 1.5 (TF-IDF, LogReg)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90288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3" y="3090672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transformers + torch (BERT NER)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0288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90288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18303" y="3986783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Sentence embeddings (MiniLM-L6-v2)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03136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03136" y="82296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Dev &amp; Deployment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03136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03136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31152" y="1298448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Git &amp; GitHub — version control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6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03136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31152" y="2194560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Railway — backend + PostgreSQL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03136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03136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31152" y="3090672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pwdlib (Argon2) + python-jose (JWT)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03136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03136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31152" y="3986783"/>
            <a:ext cx="1901952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Authlib — Google OAuth 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822960"/>
            <a:ext cx="4096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Frontend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88720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18872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25296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ProtectedRoute.tsx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499616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Checks for a stored JWT; redirects unauthenticated users to 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084832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208483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121408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services/api.ts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395728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Axios interceptors: attach Bearer JWT; clear token + redirect on 401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980944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" y="2980944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3017520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ProfileSetup.tsx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291840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Gap-filling flow — resume-locked fields disabled, required fields via Zod + RHF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3877056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913632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JobBoard / JobDetailModal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187952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 cards with match badge; modal lazily fetches ATS analysis on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822960"/>
            <a:ext cx="4096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Backend Modules (FastAPI)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2896" y="1188720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82896" y="1188720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1225296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main.py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1499616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Mounts 7 routers under /api; CORS scoped to frontend origin; creates schema on startup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82896" y="2084832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82896" y="2084832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2121408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ml_resume_parser/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2395728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Regex → fuzzy/TF-IDF segmenter → BERT NER → gazetteer, dispatched via run_in_threadpool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82896" y="2980944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82896" y="2980944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3017520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ats_service.py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291840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Blended TF-IDF + semantic + skill-overlap scoring, shared by optimizer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82896" y="3877056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82896" y="3877056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0912" y="3913632"/>
            <a:ext cx="38953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job_service.py / pdf_service.py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4187952"/>
            <a:ext cx="38953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JSearch cache (15-min TTL) + ReportLab-rendered optimized resume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Testing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Unit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07008"/>
            <a:ext cx="2651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05A"/>
                </a:solidFill>
              </a:rPr>
              <a:t>✓ 14 test cases — all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Integration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07008"/>
            <a:ext cx="2651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0B4D8"/>
                </a:solidFill>
              </a:rPr>
              <a:t>✓ 10 test cases — all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System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207008"/>
            <a:ext cx="2651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805A"/>
                </a:solidFill>
              </a:rPr>
              <a:t>✓ End-to-end — all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1591056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Regex extraction (email, phone, dates)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2066543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Section header detection + LogReg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2542032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BERT NER — person name extraction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3017520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Gazetteer skill categorization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3493008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Experience entry splitting by date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3968496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ATS blend score upper/lower bounds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444398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4443983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Quantification-gap detection (regex)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1591056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Register → login returns JWT + Profile row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2066543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Resume upload → profile fields populated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2542032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Job search returns sorted match scores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3017520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ATS analysis → matched/missing skills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3493008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Optimize resume → download updated PDF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3968496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Application status update via Dashboard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444398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6120" y="4443983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Google OAuth callback issues valid JWT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7" y="1591056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Varying resume formats (headers, layouts)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7" y="2066543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Common vs. narrow/location job queries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4768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7" y="2542032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Score direction verified as skills change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7" y="3017520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Boundary: empty upload, 5MB limit, 0 skills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7" y="3493008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Error handling: JSearch failure, bad JWT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4768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36207" y="3968496"/>
            <a:ext cx="2651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Cross-browser manual verification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4592" y="4919472"/>
            <a:ext cx="88148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</a:rPr>
              <a:t>All stated objectives met — parsing, scoring, optimization, auth, tracking &amp; PDF export verified end-to-end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 &amp; Future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✓ Project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298448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325880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Parsing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545336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Regex + fuzzy/TF-IDF segmenter + BERT NER + gazetteer extract structured profiles reliably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901952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" y="1901952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929384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Blended Match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148840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TF-IDF + sentence embeddings + skill overlap → interpretable 1–10 score, monotonic with overlap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05456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" y="2505456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532888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2752344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Job-targeted suggestions placed via semantic similarity, never fabricating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3108960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" y="3108960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3136392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Dual-Mode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3355848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Argon2 + JWT local auth and Google OAuth 2.0 converge on one session mechanism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712464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" y="3712464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3739896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Application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3959352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Saved → Applied → Interview → Offer/Rejected transitions verified against the state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315968"/>
            <a:ext cx="4315968" cy="53035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4315968"/>
            <a:ext cx="54864" cy="5303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4343400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Fully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4562856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Packaged for Railway; all config externalized through environment variables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🚀 Future Recommendations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1298448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1298448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1456" y="1316736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Automated Test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1517904"/>
            <a:ext cx="4114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pytest-based suite wired into CI to replace manual testing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760219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1760219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91456" y="1778507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Verified App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1979676"/>
            <a:ext cx="4114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Corroborate self-reported status via email parsing or ATS webhooks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221991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2221991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91456" y="2240279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Job Alerts 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91456" y="2441448"/>
            <a:ext cx="4114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Expose the complete /api/alerts backend through a dedicated UI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2683763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63440" y="2683763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91456" y="2702051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OCR for Scanned Resumes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91456" y="2903220"/>
            <a:ext cx="4114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Tesseract fallback for image-only PDF uploads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3145535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3145535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91456" y="3163823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Fine-Tuned 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456" y="3364991"/>
            <a:ext cx="4114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Domain fine-tuning to reduce organization-tag false positives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3607307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3440" y="3607307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91456" y="3625595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Learned Score Weights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91456" y="3826763"/>
            <a:ext cx="4114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Replace fixed 0.5/0.25/0.25 blend with weights learned from labeled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069079"/>
            <a:ext cx="4315968" cy="39776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63440" y="4069079"/>
            <a:ext cx="54864" cy="397764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91456" y="4087367"/>
            <a:ext cx="41148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Employer-Facing Features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91456" y="4288536"/>
            <a:ext cx="4114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An employer portal for posting jobs directly is a natural extension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48840"/>
            <a:ext cx="5303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>
                <a:solidFill>
                  <a:srgbClr val="00B4D8"/>
                </a:solidFill>
              </a:rPr>
              <a:t>ResuMatrix — Turning One Resume Upload Into a Live-Scored Job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5029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5303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A8B8C8"/>
                </a:solidFill>
              </a:rPr>
              <a:t>Open for 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37560"/>
            <a:ext cx="5303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Alex Phuyal (79010151)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Abishek Khadka (79010149)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Biraj Sapkota (79010173)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53035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A8B8C8"/>
                </a:solidFill>
              </a:rPr>
              <a:t>Supervisor: Er. Akkal Bist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084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164592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Amrit College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Tribhuvan University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377440"/>
            <a:ext cx="2103120" cy="640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251460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A8B8C8"/>
                </a:solidFill>
              </a:rPr>
              <a:t>Supervisor:</a:t>
            </a:r>
          </a:p>
          <a:p>
            <a:pPr algn="ctr"/>
            <a:r>
              <a:rPr sz="1200">
                <a:solidFill>
                  <a:srgbClr val="A8B8C8"/>
                </a:solidFill>
              </a:rPr>
              <a:t>Er. Akkal Bist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218688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A8B8C8"/>
                </a:solidFill>
              </a:rPr>
              <a:t>B.Sc. CSIT | July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65760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00B4D8"/>
                </a:solidFill>
              </a:rPr>
              <a:t>github.com/Abishek-khadka01/</a:t>
            </a:r>
          </a:p>
          <a:p>
            <a:pPr algn="ctr"/>
            <a:r>
              <a:rPr sz="1000">
                <a:solidFill>
                  <a:srgbClr val="00B4D8"/>
                </a:solidFill>
              </a:rPr>
              <a:t>resume-parser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