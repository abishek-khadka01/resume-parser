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56032"/>
            <a:ext cx="1005840" cy="91440"/>
          </a:xfrm>
          <a:prstGeom prst="rect">
            <a:avLst/>
          </a:prstGeom>
          <a:solidFill>
            <a:srgbClr val="E8805A"/>
          </a:solidFill>
          <a:ln w="12700">
            <a:solidFill>
              <a:srgbClr val="E880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29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📖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74320" y="141732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AI Note Analyzer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74320" y="212140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B4D8"/>
                </a:solidFill>
              </a:rPr>
              <a:t>Browser Extension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2798064"/>
            <a:ext cx="5029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9443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8C8"/>
                </a:solidFill>
              </a:rPr>
              <a:t>Madan Bhandari Memorial College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32918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Arpan Poudel (79010988) • Devraj Silwal (79010998) • Yugal Poudel (79011030)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Supervisor: Mr. Rhishav Poudyal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64592"/>
            <a:ext cx="164592" cy="164592"/>
          </a:xfrm>
          <a:prstGeom prst="ellipse">
            <a:avLst/>
          </a:prstGeom>
          <a:solidFill>
            <a:srgbClr val="2A5080">
              <a:alpha val="80000"/>
            </a:srgbClr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20840" y="164592"/>
            <a:ext cx="164592" cy="164592"/>
          </a:xfrm>
          <a:prstGeom prst="ellipse">
            <a:avLst/>
          </a:prstGeom>
          <a:solidFill>
            <a:srgbClr val="2A5080">
              <a:alpha val="80000"/>
            </a:srgbClr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69480" y="164592"/>
            <a:ext cx="164592" cy="164592"/>
          </a:xfrm>
          <a:prstGeom prst="ellipse">
            <a:avLst/>
          </a:prstGeom>
          <a:solidFill>
            <a:srgbClr val="2A5080">
              <a:alpha val="80000"/>
            </a:srgbClr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18120" y="164592"/>
            <a:ext cx="164592" cy="164592"/>
          </a:xfrm>
          <a:prstGeom prst="ellipse">
            <a:avLst/>
          </a:prstGeom>
          <a:solidFill>
            <a:srgbClr val="2A5080">
              <a:alpha val="80000"/>
            </a:srgbClr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66760" y="164592"/>
            <a:ext cx="164592" cy="164592"/>
          </a:xfrm>
          <a:prstGeom prst="ellipse">
            <a:avLst/>
          </a:prstGeom>
          <a:solidFill>
            <a:srgbClr val="2A5080">
              <a:alpha val="80000"/>
            </a:srgbClr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69680" y="164592"/>
            <a:ext cx="164592" cy="164592"/>
          </a:xfrm>
          <a:prstGeom prst="ellipse">
            <a:avLst/>
          </a:prstGeom>
          <a:solidFill>
            <a:srgbClr val="2A5080">
              <a:alpha val="80000"/>
            </a:srgbClr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685800"/>
            <a:ext cx="164592" cy="164592"/>
          </a:xfrm>
          <a:prstGeom prst="ellipse">
            <a:avLst/>
          </a:prstGeom>
          <a:solidFill>
            <a:srgbClr val="2A5080">
              <a:alpha val="80000"/>
            </a:srgbClr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20840" y="685800"/>
            <a:ext cx="164592" cy="164592"/>
          </a:xfrm>
          <a:prstGeom prst="ellipse">
            <a:avLst/>
          </a:prstGeom>
          <a:solidFill>
            <a:srgbClr val="2A5080">
              <a:alpha val="80000"/>
            </a:srgbClr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69480" y="685800"/>
            <a:ext cx="164592" cy="164592"/>
          </a:xfrm>
          <a:prstGeom prst="ellipse">
            <a:avLst/>
          </a:prstGeom>
          <a:solidFill>
            <a:srgbClr val="2A5080">
              <a:alpha val="80000"/>
            </a:srgbClr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18120" y="685800"/>
            <a:ext cx="164592" cy="164592"/>
          </a:xfrm>
          <a:prstGeom prst="ellipse">
            <a:avLst/>
          </a:prstGeom>
          <a:solidFill>
            <a:srgbClr val="2A5080">
              <a:alpha val="80000"/>
            </a:srgbClr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66760" y="685800"/>
            <a:ext cx="164592" cy="164592"/>
          </a:xfrm>
          <a:prstGeom prst="ellipse">
            <a:avLst/>
          </a:prstGeom>
          <a:solidFill>
            <a:srgbClr val="2A5080">
              <a:alpha val="80000"/>
            </a:srgbClr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69680" y="685800"/>
            <a:ext cx="164592" cy="164592"/>
          </a:xfrm>
          <a:prstGeom prst="ellipse">
            <a:avLst/>
          </a:prstGeom>
          <a:solidFill>
            <a:srgbClr val="2A5080">
              <a:alpha val="80000"/>
            </a:srgbClr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1234440"/>
            <a:ext cx="164592" cy="164592"/>
          </a:xfrm>
          <a:prstGeom prst="ellipse">
            <a:avLst/>
          </a:prstGeom>
          <a:solidFill>
            <a:srgbClr val="2A5080">
              <a:alpha val="80000"/>
            </a:srgbClr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1234440"/>
            <a:ext cx="164592" cy="164592"/>
          </a:xfrm>
          <a:prstGeom prst="ellipse">
            <a:avLst/>
          </a:prstGeom>
          <a:solidFill>
            <a:srgbClr val="2A5080">
              <a:alpha val="80000"/>
            </a:srgbClr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72200" y="1783080"/>
            <a:ext cx="164592" cy="164592"/>
          </a:xfrm>
          <a:prstGeom prst="ellipse">
            <a:avLst/>
          </a:prstGeom>
          <a:solidFill>
            <a:srgbClr val="2A5080">
              <a:alpha val="80000"/>
            </a:srgbClr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20840" y="1783080"/>
            <a:ext cx="164592" cy="164592"/>
          </a:xfrm>
          <a:prstGeom prst="ellipse">
            <a:avLst/>
          </a:prstGeom>
          <a:solidFill>
            <a:srgbClr val="2A5080">
              <a:alpha val="80000"/>
            </a:srgbClr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69480" y="1783080"/>
            <a:ext cx="164592" cy="164592"/>
          </a:xfrm>
          <a:prstGeom prst="ellipse">
            <a:avLst/>
          </a:prstGeom>
          <a:solidFill>
            <a:srgbClr val="2A5080">
              <a:alpha val="80000"/>
            </a:srgbClr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1783080"/>
            <a:ext cx="164592" cy="164592"/>
          </a:xfrm>
          <a:prstGeom prst="ellipse">
            <a:avLst/>
          </a:prstGeom>
          <a:solidFill>
            <a:srgbClr val="2A5080">
              <a:alpha val="80000"/>
            </a:srgbClr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72200" y="3840480"/>
            <a:ext cx="164592" cy="164592"/>
          </a:xfrm>
          <a:prstGeom prst="ellipse">
            <a:avLst/>
          </a:prstGeom>
          <a:solidFill>
            <a:srgbClr val="2A5080">
              <a:alpha val="80000"/>
            </a:srgbClr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20840" y="3840480"/>
            <a:ext cx="164592" cy="164592"/>
          </a:xfrm>
          <a:prstGeom prst="ellipse">
            <a:avLst/>
          </a:prstGeom>
          <a:solidFill>
            <a:srgbClr val="2A5080">
              <a:alpha val="80000"/>
            </a:srgbClr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18120" y="3840480"/>
            <a:ext cx="164592" cy="164592"/>
          </a:xfrm>
          <a:prstGeom prst="ellipse">
            <a:avLst/>
          </a:prstGeom>
          <a:solidFill>
            <a:srgbClr val="2A5080">
              <a:alpha val="80000"/>
            </a:srgbClr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66760" y="3840480"/>
            <a:ext cx="164592" cy="164592"/>
          </a:xfrm>
          <a:prstGeom prst="ellipse">
            <a:avLst/>
          </a:prstGeom>
          <a:solidFill>
            <a:srgbClr val="2A5080">
              <a:alpha val="80000"/>
            </a:srgbClr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69680" y="3840480"/>
            <a:ext cx="164592" cy="164592"/>
          </a:xfrm>
          <a:prstGeom prst="ellipse">
            <a:avLst/>
          </a:prstGeom>
          <a:solidFill>
            <a:srgbClr val="2A5080">
              <a:alpha val="80000"/>
            </a:srgbClr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2200" y="4389120"/>
            <a:ext cx="164592" cy="164592"/>
          </a:xfrm>
          <a:prstGeom prst="ellipse">
            <a:avLst/>
          </a:prstGeom>
          <a:solidFill>
            <a:srgbClr val="2A5080">
              <a:alpha val="80000"/>
            </a:srgbClr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20840" y="4389120"/>
            <a:ext cx="164592" cy="164592"/>
          </a:xfrm>
          <a:prstGeom prst="ellipse">
            <a:avLst/>
          </a:prstGeom>
          <a:solidFill>
            <a:srgbClr val="2A5080">
              <a:alpha val="80000"/>
            </a:srgbClr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69480" y="4389120"/>
            <a:ext cx="164592" cy="164592"/>
          </a:xfrm>
          <a:prstGeom prst="ellipse">
            <a:avLst/>
          </a:prstGeom>
          <a:solidFill>
            <a:srgbClr val="2A5080">
              <a:alpha val="80000"/>
            </a:srgbClr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18120" y="4389120"/>
            <a:ext cx="164592" cy="164592"/>
          </a:xfrm>
          <a:prstGeom prst="ellipse">
            <a:avLst/>
          </a:prstGeom>
          <a:solidFill>
            <a:srgbClr val="2A5080">
              <a:alpha val="80000"/>
            </a:srgbClr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66760" y="4389120"/>
            <a:ext cx="164592" cy="164592"/>
          </a:xfrm>
          <a:prstGeom prst="ellipse">
            <a:avLst/>
          </a:prstGeom>
          <a:solidFill>
            <a:srgbClr val="2A5080">
              <a:alpha val="80000"/>
            </a:srgbClr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869680" y="4389120"/>
            <a:ext cx="164592" cy="164592"/>
          </a:xfrm>
          <a:prstGeom prst="ellipse">
            <a:avLst/>
          </a:prstGeom>
          <a:solidFill>
            <a:srgbClr val="2A5080">
              <a:alpha val="80000"/>
            </a:srgbClr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35040" y="1920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B.Sc. CSIT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035040" y="23774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B8C8"/>
                </a:solidFill>
              </a:rPr>
              <a:t>7th Semester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00800" y="2798064"/>
            <a:ext cx="2103120" cy="64008"/>
          </a:xfrm>
          <a:prstGeom prst="rect">
            <a:avLst/>
          </a:prstGeom>
          <a:solidFill>
            <a:srgbClr val="E8805A"/>
          </a:solidFill>
          <a:ln w="12700">
            <a:solidFill>
              <a:srgbClr val="E8805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35040" y="294436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Final Defense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Presentation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035040" y="3749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B8C8"/>
                </a:solidFill>
              </a:rPr>
              <a:t>May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Presentation Agenda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64592" y="896112"/>
            <a:ext cx="4315968" cy="822960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896112"/>
            <a:ext cx="640080" cy="822960"/>
          </a:xfrm>
          <a:prstGeom prst="rect">
            <a:avLst/>
          </a:prstGeom>
          <a:solidFill>
            <a:srgbClr val="E8805A"/>
          </a:solidFill>
          <a:ln w="12700">
            <a:solidFill>
              <a:srgbClr val="E880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896112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896112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Introduction &amp; Problem Statement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64592" y="1920240"/>
            <a:ext cx="4315968" cy="822960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" y="1920240"/>
            <a:ext cx="640080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19202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14400" y="19202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Project Objectives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64592" y="2944368"/>
            <a:ext cx="4315968" cy="822960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4592" y="2944368"/>
            <a:ext cx="640080" cy="822960"/>
          </a:xfrm>
          <a:prstGeom prst="rect">
            <a:avLst/>
          </a:prstGeom>
          <a:solidFill>
            <a:srgbClr val="E8805A"/>
          </a:solidFill>
          <a:ln w="12700">
            <a:solidFill>
              <a:srgbClr val="E880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4592" y="294436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294436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Literature Review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64592" y="3968496"/>
            <a:ext cx="4315968" cy="822960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3968496"/>
            <a:ext cx="640080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4592" y="3968496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</a:rPr>
              <a:t>04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14400" y="3968496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Algorithms — NLP Processing Pipeline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81728" y="896112"/>
            <a:ext cx="4315968" cy="822960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81728" y="896112"/>
            <a:ext cx="640080" cy="822960"/>
          </a:xfrm>
          <a:prstGeom prst="rect">
            <a:avLst/>
          </a:prstGeom>
          <a:solidFill>
            <a:srgbClr val="E8805A"/>
          </a:solidFill>
          <a:ln w="12700">
            <a:solidFill>
              <a:srgbClr val="E880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1728" y="896112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</a:rPr>
              <a:t>05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31536" y="896112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System Architecture &amp; Design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81728" y="1920240"/>
            <a:ext cx="4315968" cy="822960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1728" y="1920240"/>
            <a:ext cx="640080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1728" y="19202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</a:rPr>
              <a:t>06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431536" y="19202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Technology Stack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1728" y="2944368"/>
            <a:ext cx="4315968" cy="822960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1728" y="2944368"/>
            <a:ext cx="640080" cy="822960"/>
          </a:xfrm>
          <a:prstGeom prst="rect">
            <a:avLst/>
          </a:prstGeom>
          <a:solidFill>
            <a:srgbClr val="E8805A"/>
          </a:solidFill>
          <a:ln w="12700">
            <a:solidFill>
              <a:srgbClr val="E880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1728" y="294436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</a:rPr>
              <a:t>07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431536" y="294436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Implementation &amp; Testing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81728" y="3968496"/>
            <a:ext cx="4315968" cy="822960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81728" y="3968496"/>
            <a:ext cx="640080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1728" y="3968496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</a:rPr>
              <a:t>08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431536" y="3968496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Conclusion &amp; Future Work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Introduction &amp; Problem Statement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64592" y="841248"/>
            <a:ext cx="2834640" cy="1051560"/>
          </a:xfrm>
          <a:prstGeom prst="rect">
            <a:avLst/>
          </a:prstGeom>
          <a:solidFill>
            <a:srgbClr val="E8805A"/>
          </a:solidFill>
          <a:ln w="12700">
            <a:solidFill>
              <a:srgbClr val="E880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84124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3+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64592" y="1316736"/>
            <a:ext cx="2834640" cy="57607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316736"/>
            <a:ext cx="2651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Disconnected tools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students juggle per session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841248"/>
            <a:ext cx="2834640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84124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Complex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3154680" y="1316736"/>
            <a:ext cx="2834640" cy="57607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316736"/>
            <a:ext cx="2651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Academic language continues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to hinder comprehension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44768" y="841248"/>
            <a:ext cx="2834640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4768" y="84124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Manual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6144768" y="1316736"/>
            <a:ext cx="2834640" cy="57607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6208" y="1316736"/>
            <a:ext cx="2651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Summarising &amp; Q-generation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is slow and cognitively taxing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4592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Problem Statement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64592" y="2487168"/>
            <a:ext cx="320040" cy="320040"/>
          </a:xfrm>
          <a:prstGeom prst="ellipse">
            <a:avLst/>
          </a:prstGeom>
          <a:solidFill>
            <a:srgbClr val="E8805A"/>
          </a:solidFill>
          <a:ln w="12700">
            <a:solidFill>
              <a:srgbClr val="E880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4592" y="24871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!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245059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Students struggle with dense academic terminology and lengthy online study texts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64592" y="3108960"/>
            <a:ext cx="320040" cy="320040"/>
          </a:xfrm>
          <a:prstGeom prst="ellipse">
            <a:avLst/>
          </a:prstGeom>
          <a:solidFill>
            <a:srgbClr val="E8805A"/>
          </a:solidFill>
          <a:ln w="12700">
            <a:solidFill>
              <a:srgbClr val="E880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4592" y="3108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!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" y="307238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Existing tools (paraphrasers, grammar checkers) are siloed — no integrated academic assistant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64592" y="3730752"/>
            <a:ext cx="320040" cy="320040"/>
          </a:xfrm>
          <a:prstGeom prst="ellipse">
            <a:avLst/>
          </a:prstGeom>
          <a:solidFill>
            <a:srgbClr val="E8805A"/>
          </a:solidFill>
          <a:ln w="12700">
            <a:solidFill>
              <a:srgbClr val="E880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4592" y="37307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!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4360" y="369417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No browser-based tool that simultaneously simplifies text, generates questions, extracts keywords &amp; assesses difficulty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64592" y="4389120"/>
            <a:ext cx="8814816" cy="566928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4389120"/>
            <a:ext cx="8631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💡 Solution: An AI-powered browser extension delivering real-time academic assistance — text simplification, question generation, keyword extraction &amp; difficulty assessment — all inside the browser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Project Objectives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64592" y="896112"/>
            <a:ext cx="4315968" cy="1234440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896112"/>
            <a:ext cx="4315968" cy="73152"/>
          </a:xfrm>
          <a:prstGeom prst="rect">
            <a:avLst/>
          </a:prstGeom>
          <a:solidFill>
            <a:srgbClr val="E8805A"/>
          </a:solidFill>
          <a:ln w="12700">
            <a:solidFill>
              <a:srgbClr val="E880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9875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05A"/>
                </a:solidFill>
              </a:rPr>
              <a:t>📄 Text Capture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1752" y="1389888"/>
            <a:ext cx="4041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Capture user-highlighted text from any webpage via DOM Selection API — no copy-paste needed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81728" y="896112"/>
            <a:ext cx="4315968" cy="1234440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81728" y="896112"/>
            <a:ext cx="4315968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9875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🔤 Text Simplification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18888" y="1389888"/>
            <a:ext cx="4041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Rewrite complex academic paragraphs into clear, simple language using FLAN-T5 transformer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64592" y="2286000"/>
            <a:ext cx="4315968" cy="1234440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4592" y="2286000"/>
            <a:ext cx="4315968" cy="73152"/>
          </a:xfrm>
          <a:prstGeom prst="rect">
            <a:avLst/>
          </a:prstGeom>
          <a:solidFill>
            <a:srgbClr val="E8805A"/>
          </a:solidFill>
          <a:ln w="12700">
            <a:solidFill>
              <a:srgbClr val="E880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" y="23774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05A"/>
                </a:solidFill>
              </a:rPr>
              <a:t>❓ Question Generation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01752" y="2779776"/>
            <a:ext cx="4041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Auto-generate up to 5 exam-oriented practice questions via concurrent Seq2Seq (FLAN-T5)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81728" y="2286000"/>
            <a:ext cx="4315968" cy="1234440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1728" y="2286000"/>
            <a:ext cx="4315968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23774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🔑 Keyword Extraction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18888" y="2779776"/>
            <a:ext cx="4041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Identify key concepts using weighted TF-IDF scoring pipeline with spaCy NER &amp; positional boosts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64592" y="3675888"/>
            <a:ext cx="4315968" cy="1234440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4592" y="3675888"/>
            <a:ext cx="4315968" cy="73152"/>
          </a:xfrm>
          <a:prstGeom prst="rect">
            <a:avLst/>
          </a:prstGeom>
          <a:solidFill>
            <a:srgbClr val="E8805A"/>
          </a:solidFill>
          <a:ln w="12700">
            <a:solidFill>
              <a:srgbClr val="E880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" y="376732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05A"/>
                </a:solidFill>
              </a:rPr>
              <a:t>📊 Difficulty Assessment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01752" y="4169664"/>
            <a:ext cx="4041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Classify content difficulty (Easy / Medium / Hard) using dual-metric Flesch-Kincaid + WPS approach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81728" y="3675888"/>
            <a:ext cx="4315968" cy="1234440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1728" y="3675888"/>
            <a:ext cx="4315968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376732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📑 Export &amp; History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18888" y="4169664"/>
            <a:ext cx="4041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Export results as PDF (FPDF2) or Markdown; browse &amp; search past analyses via UUID-based history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Literature Review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64592" y="896112"/>
            <a:ext cx="8814816" cy="749808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896112"/>
            <a:ext cx="54864" cy="749808"/>
          </a:xfrm>
          <a:prstGeom prst="rect">
            <a:avLst/>
          </a:prstGeom>
          <a:solidFill>
            <a:srgbClr val="E8805A"/>
          </a:solidFill>
          <a:ln w="12700">
            <a:solidFill>
              <a:srgbClr val="E880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9509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05A"/>
                </a:solidFill>
              </a:rPr>
              <a:t>T5 Model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12984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B8C8"/>
                </a:solidFill>
              </a:rPr>
              <a:t>Raffel et al., 2020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31720" y="100584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Introduced Text-to-Text Transfer Transformer — all NLP tasks as text generation. Direct foundation of FLAN-T5 used in this project.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64592" y="1737360"/>
            <a:ext cx="8814816" cy="749808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" y="1737360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7922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FLAN-T5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" y="21396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B8C8"/>
                </a:solidFill>
              </a:rPr>
              <a:t>Chung et al., 2022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1847088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Instruction fine-tuning yields more accurate, context-aware outputs across NLP tasks — ideal for simplification &amp; question generation.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64592" y="2578608"/>
            <a:ext cx="8814816" cy="749808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2578608"/>
            <a:ext cx="54864" cy="749808"/>
          </a:xfrm>
          <a:prstGeom prst="rect">
            <a:avLst/>
          </a:prstGeom>
          <a:solidFill>
            <a:srgbClr val="E8805A"/>
          </a:solidFill>
          <a:ln w="12700">
            <a:solidFill>
              <a:srgbClr val="E880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6334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05A"/>
                </a:solidFill>
              </a:rPr>
              <a:t>Question Generation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" y="29809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B8C8"/>
                </a:solidFill>
              </a:rPr>
              <a:t>Du, Shao &amp; Cardie, 2017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31720" y="2688336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Neural Seq2Seq models generate meaningful questions from reading passages — validated for educational applications.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64592" y="3419856"/>
            <a:ext cx="8814816" cy="749808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4592" y="3419856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4747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TextRank / TF-IDF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7472" y="3822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B8C8"/>
                </a:solidFill>
              </a:rPr>
              <a:t>Mihalcea &amp; Tarau, 2004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331720" y="3529584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Graph-based + frequency-weighted NLP for keyword extraction — core idea behind the weighted TF-IDF scoring used here.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64592" y="4261104"/>
            <a:ext cx="8814816" cy="749808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4261104"/>
            <a:ext cx="54864" cy="749808"/>
          </a:xfrm>
          <a:prstGeom prst="rect">
            <a:avLst/>
          </a:prstGeom>
          <a:solidFill>
            <a:srgbClr val="E8805A"/>
          </a:solidFill>
          <a:ln w="12700">
            <a:solidFill>
              <a:srgbClr val="E880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43159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05A"/>
                </a:solidFill>
              </a:rPr>
              <a:t>NLTK Toolkit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7472" y="4663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B8C8"/>
                </a:solidFill>
              </a:rPr>
              <a:t>Bird, Klein &amp; Loper, 2009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331720" y="4370832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Foundational tokenization, stop-word removal &amp; POS tagging — used in keyword pipeline and difficulty analysis.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Algorithms — NLP Processing Pipeline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4592" y="822960"/>
            <a:ext cx="8814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① Text Simplification (FLAN-T5 — Sentence Routing Strategy)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4592" y="1161288"/>
            <a:ext cx="1353312" cy="621792"/>
          </a:xfrm>
          <a:prstGeom prst="rect">
            <a:avLst/>
          </a:prstGeom>
          <a:solidFill>
            <a:srgbClr val="1A3248"/>
          </a:solidFill>
          <a:ln w="12700">
            <a:solidFill>
              <a:srgbClr val="1A32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161288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User Text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17904" y="1280160"/>
            <a:ext cx="118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C8"/>
                </a:solidFill>
              </a:rPr>
              <a:t>▶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36776" y="1161288"/>
            <a:ext cx="1353312" cy="62179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36776" y="1161288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Tokenize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Sentences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90088" y="1280160"/>
            <a:ext cx="118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C8"/>
                </a:solidFill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0" y="1161288"/>
            <a:ext cx="1353312" cy="62179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1161288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Route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≤5 / &gt;5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62272" y="1280160"/>
            <a:ext cx="118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C8"/>
                </a:solidFill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81144" y="1161288"/>
            <a:ext cx="1353312" cy="62179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81144" y="1161288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FLAN-T5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Inference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34456" y="1280160"/>
            <a:ext cx="118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C8"/>
                </a:solidFill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53328" y="1161288"/>
            <a:ext cx="1353312" cy="62179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53328" y="1161288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Quality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Guards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06640" y="1280160"/>
            <a:ext cx="118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C8"/>
                </a:solidFill>
              </a:rPr>
              <a:t>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525512" y="1161288"/>
            <a:ext cx="1353312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25512" y="1161288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Simplified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Text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4592" y="1920240"/>
            <a:ext cx="8814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05A"/>
                </a:solidFill>
              </a:rPr>
              <a:t>② Question Generation (FLAN-T5 — Concurrent Seq2Seq, ThreadPoolExecutor × 4 workers)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64592" y="2258568"/>
            <a:ext cx="1353312" cy="62179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4592" y="2258568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User Text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517904" y="2377440"/>
            <a:ext cx="118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C8"/>
                </a:solidFill>
              </a:rPr>
              <a:t>▶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636776" y="2258568"/>
            <a:ext cx="1353312" cy="62179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36776" y="2258568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Filter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Deduplicate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990088" y="2377440"/>
            <a:ext cx="118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C8"/>
                </a:solidFill>
              </a:rPr>
              <a:t>▶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08960" y="2258568"/>
            <a:ext cx="1353312" cy="62179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8960" y="2258568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Dispatch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Concurrent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62272" y="2377440"/>
            <a:ext cx="118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C8"/>
                </a:solidFill>
              </a:rPr>
              <a:t>▶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81144" y="2258568"/>
            <a:ext cx="1353312" cy="62179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81144" y="2258568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FLAN-T5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Per Sentence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34456" y="2377440"/>
            <a:ext cx="118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C8"/>
                </a:solidFill>
              </a:rPr>
              <a:t>▶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53328" y="2258568"/>
            <a:ext cx="1353312" cy="62179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53328" y="2258568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Validate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Clean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406640" y="2377440"/>
            <a:ext cx="118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C8"/>
                </a:solidFill>
              </a:rPr>
              <a:t>▶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525512" y="2258568"/>
            <a:ext cx="1353312" cy="621792"/>
          </a:xfrm>
          <a:prstGeom prst="rect">
            <a:avLst/>
          </a:prstGeom>
          <a:solidFill>
            <a:srgbClr val="E8805A"/>
          </a:solidFill>
          <a:ln w="12700">
            <a:solidFill>
              <a:srgbClr val="E8805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25512" y="2258568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Questions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64592" y="3017520"/>
            <a:ext cx="8814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③ Keyword Extraction (spaCy + Weighted TF-IDF — NER, Positional &amp; Noun-Chunk Boosts)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64592" y="3355848"/>
            <a:ext cx="1353312" cy="62179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4592" y="3355848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User Text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517904" y="3474720"/>
            <a:ext cx="118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C8"/>
                </a:solidFill>
              </a:rPr>
              <a:t>▶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636776" y="3355848"/>
            <a:ext cx="1353312" cy="62179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636776" y="3355848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Tokenize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Filter Nouns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990088" y="3474720"/>
            <a:ext cx="118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C8"/>
                </a:solidFill>
              </a:rPr>
              <a:t>▶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108960" y="3355848"/>
            <a:ext cx="1353312" cy="62179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08960" y="3355848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TF × IDF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Proxy Score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462272" y="3474720"/>
            <a:ext cx="118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C8"/>
                </a:solidFill>
              </a:rPr>
              <a:t>▶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81144" y="3355848"/>
            <a:ext cx="1353312" cy="62179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81144" y="3355848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NER ×1.5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Pos ×1.3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934456" y="3474720"/>
            <a:ext cx="118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C8"/>
                </a:solidFill>
              </a:rPr>
              <a:t>▶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053328" y="3355848"/>
            <a:ext cx="1353312" cy="62179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053328" y="3355848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Rank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Cap/Sent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406640" y="3474720"/>
            <a:ext cx="118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C8"/>
                </a:solidFill>
              </a:rPr>
              <a:t>▶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525512" y="3355848"/>
            <a:ext cx="1353312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525512" y="3355848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Top 12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Keywords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164592" y="4114800"/>
            <a:ext cx="8814816" cy="80467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92608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TF-IDF Formula: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2560320" y="4160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score(word) = TF(word) × IDF(word) | IDF = log( (total_sentences+1) / (sentences_containing_word+1) ) + 1.0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292608" y="44805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8C8"/>
                </a:solidFill>
              </a:rPr>
              <a:t>④ Difficulty Assessment — Dual-metric: Flesch-Kincaid grade level (FK = 0.39×avg_words + 11.8×avg_syllables − 15.59) + Words-per-Sentence → Easy / Medium / Hard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System Architecture &amp; Design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64592" y="822960"/>
            <a:ext cx="4096512" cy="384048"/>
          </a:xfrm>
          <a:prstGeom prst="rect">
            <a:avLst/>
          </a:prstGeom>
          <a:solidFill>
            <a:srgbClr val="E8805A"/>
          </a:solidFill>
          <a:ln w="12700">
            <a:solidFill>
              <a:srgbClr val="E880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822960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CLIENT SIDE (Browser Extension — Manifest V3)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4592" y="1298448"/>
            <a:ext cx="4096512" cy="62179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298448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05A"/>
                </a:solidFill>
              </a:rPr>
              <a:t>content.js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89888" y="1298448"/>
            <a:ext cx="27980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Text capture via DOM Selection API; floating panel injection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64592" y="1993392"/>
            <a:ext cx="4096512" cy="62179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99339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05A"/>
                </a:solidFill>
              </a:rPr>
              <a:t>Panel UI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89888" y="1993392"/>
            <a:ext cx="27980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Tabbed interface: Simplified / Questions / Keywords / Difficulty / History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64592" y="2688336"/>
            <a:ext cx="4096512" cy="62179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268833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05A"/>
                </a:solidFill>
              </a:rPr>
              <a:t>background.js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89888" y="2688336"/>
            <a:ext cx="27980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Service worker — handles toggle, Alt+S shortcut, Chrome Storage API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64592" y="3383280"/>
            <a:ext cx="4096512" cy="62179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338328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05A"/>
                </a:solidFill>
              </a:rPr>
              <a:t>Export Module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89888" y="3383280"/>
            <a:ext cx="27980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PDF export via FPDF2 backend endpoint; Markdown export (client-side only)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64592" y="4078224"/>
            <a:ext cx="4096512" cy="62179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407822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05A"/>
                </a:solidFill>
              </a:rPr>
              <a:t>Options Page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89888" y="4078224"/>
            <a:ext cx="27980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User config: API URL, character limit, PDF redirect behaviour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315968" y="2194560"/>
            <a:ext cx="512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0B4D8"/>
                </a:solidFill>
              </a:rPr>
              <a:t>HTTPS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00B4D8"/>
                </a:solidFill>
              </a:rPr>
              <a:t>▶▶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00B4D8"/>
                </a:solidFill>
              </a:rPr>
              <a:t>REST API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882896" y="822960"/>
            <a:ext cx="4096512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82896" y="822960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BACKEND SERVER (FastAPI — Render, Singapore)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82896" y="1298448"/>
            <a:ext cx="4096512" cy="62179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74336" y="129844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FastAPI Gateway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82512" y="1298448"/>
            <a:ext cx="25237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POST /analyze | POST /export-pdf | GET /history | DELETE /history/{id}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82896" y="1993392"/>
            <a:ext cx="4096512" cy="62179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74336" y="199339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Text Simplifier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82512" y="1993392"/>
            <a:ext cx="25237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FLAN-T5 sentence routing — Mode A (≤5 sent) / Mode B (&gt;5 sent) + quality guards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82896" y="2688336"/>
            <a:ext cx="4096512" cy="62179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74336" y="2688336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Question Generator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82512" y="2688336"/>
            <a:ext cx="25237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Seq2Seq concurrent dispatch — up to 5 validated, deduplicated exam questions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82896" y="3383280"/>
            <a:ext cx="4096512" cy="62179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74336" y="338328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Keyword Extractor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82512" y="3383280"/>
            <a:ext cx="25237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Weighted TF-IDF + spaCy NER ×1.5 + positional ×1.3 + chunk-head ×1.2 boosts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82896" y="4078224"/>
            <a:ext cx="4096512" cy="62179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74336" y="4078224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Difficulty Assessor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82512" y="4078224"/>
            <a:ext cx="25237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Dual-metric: Flesch-Kincaid + WPS; combined decision rule — Hard wins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Technology Stack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64592" y="822960"/>
            <a:ext cx="2084832" cy="384048"/>
          </a:xfrm>
          <a:prstGeom prst="rect">
            <a:avLst/>
          </a:prstGeom>
          <a:solidFill>
            <a:srgbClr val="E8805A"/>
          </a:solidFill>
          <a:ln w="12700">
            <a:solidFill>
              <a:srgbClr val="E880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82296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Frontend (Extension)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" y="1298448"/>
            <a:ext cx="2084832" cy="80467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298448"/>
            <a:ext cx="54864" cy="804672"/>
          </a:xfrm>
          <a:prstGeom prst="rect">
            <a:avLst/>
          </a:prstGeom>
          <a:solidFill>
            <a:srgbClr val="E8805A"/>
          </a:solidFill>
          <a:ln w="12700">
            <a:solidFill>
              <a:srgbClr val="E880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298448"/>
            <a:ext cx="19019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HTML5 + CSS3 + Vanilla JS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4592" y="2194560"/>
            <a:ext cx="2084832" cy="80467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" y="2194560"/>
            <a:ext cx="54864" cy="804672"/>
          </a:xfrm>
          <a:prstGeom prst="rect">
            <a:avLst/>
          </a:prstGeom>
          <a:solidFill>
            <a:srgbClr val="E8805A"/>
          </a:solidFill>
          <a:ln w="12700">
            <a:solidFill>
              <a:srgbClr val="E880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2194560"/>
            <a:ext cx="19019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Chrome Extension API — Manifest V3 (v2.4)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64592" y="3090672"/>
            <a:ext cx="2084832" cy="80467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4592" y="3090672"/>
            <a:ext cx="54864" cy="804672"/>
          </a:xfrm>
          <a:prstGeom prst="rect">
            <a:avLst/>
          </a:prstGeom>
          <a:solidFill>
            <a:srgbClr val="E8805A"/>
          </a:solidFill>
          <a:ln w="12700">
            <a:solidFill>
              <a:srgbClr val="E880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3090672"/>
            <a:ext cx="19019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DOM Selection API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64592" y="3986784"/>
            <a:ext cx="2084832" cy="80467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3986784"/>
            <a:ext cx="54864" cy="804672"/>
          </a:xfrm>
          <a:prstGeom prst="rect">
            <a:avLst/>
          </a:prstGeom>
          <a:solidFill>
            <a:srgbClr val="E8805A"/>
          </a:solidFill>
          <a:ln w="12700">
            <a:solidFill>
              <a:srgbClr val="E880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3986784"/>
            <a:ext cx="19019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Fetch API + AbortController (120s timeout)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377440" y="822960"/>
            <a:ext cx="2084832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0" y="82296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Backend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377440" y="1298448"/>
            <a:ext cx="2084832" cy="80467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77440" y="1298448"/>
            <a:ext cx="54864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05456" y="1298448"/>
            <a:ext cx="19019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Python 3.11.9 — FastAPI 0.116.1 (ASGI)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377440" y="2194560"/>
            <a:ext cx="2084832" cy="80467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77440" y="2194560"/>
            <a:ext cx="54864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05456" y="2194560"/>
            <a:ext cx="19019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Uvicorn server runtime 0.35.0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377440" y="3090672"/>
            <a:ext cx="2084832" cy="80467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77440" y="3090672"/>
            <a:ext cx="54864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05456" y="3090672"/>
            <a:ext cx="19019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FPDF2 2.8.3 — PDF generation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377440" y="3986784"/>
            <a:ext cx="2084832" cy="80467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77440" y="3986784"/>
            <a:ext cx="54864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05456" y="3986784"/>
            <a:ext cx="19019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CORS middleware (allow_origins=["*"])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90288" y="822960"/>
            <a:ext cx="2084832" cy="384048"/>
          </a:xfrm>
          <a:prstGeom prst="rect">
            <a:avLst/>
          </a:prstGeom>
          <a:solidFill>
            <a:srgbClr val="E8805A"/>
          </a:solidFill>
          <a:ln w="12700">
            <a:solidFill>
              <a:srgbClr val="E880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90288" y="82296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AI / NLP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90288" y="1298448"/>
            <a:ext cx="2084832" cy="80467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90288" y="1298448"/>
            <a:ext cx="54864" cy="804672"/>
          </a:xfrm>
          <a:prstGeom prst="rect">
            <a:avLst/>
          </a:prstGeom>
          <a:solidFill>
            <a:srgbClr val="E8805A"/>
          </a:solidFill>
          <a:ln w="12700">
            <a:solidFill>
              <a:srgbClr val="E8805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18304" y="1298448"/>
            <a:ext cx="19019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FLAN-T5 via Groq API (llama-3.1-8b-instant)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90288" y="2194560"/>
            <a:ext cx="2084832" cy="80467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90288" y="2194560"/>
            <a:ext cx="54864" cy="804672"/>
          </a:xfrm>
          <a:prstGeom prst="rect">
            <a:avLst/>
          </a:prstGeom>
          <a:solidFill>
            <a:srgbClr val="E8805A"/>
          </a:solidFill>
          <a:ln w="12700">
            <a:solidFill>
              <a:srgbClr val="E8805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18304" y="2194560"/>
            <a:ext cx="19019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spaCy en_core_web_sm 3.8.13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90288" y="3090672"/>
            <a:ext cx="2084832" cy="80467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90288" y="3090672"/>
            <a:ext cx="54864" cy="804672"/>
          </a:xfrm>
          <a:prstGeom prst="rect">
            <a:avLst/>
          </a:prstGeom>
          <a:solidFill>
            <a:srgbClr val="E8805A"/>
          </a:solidFill>
          <a:ln w="12700">
            <a:solidFill>
              <a:srgbClr val="E880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18304" y="3090672"/>
            <a:ext cx="19019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NLTK 3.9.1 — sentence tokenization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90288" y="3986784"/>
            <a:ext cx="2084832" cy="80467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90288" y="3986784"/>
            <a:ext cx="54864" cy="804672"/>
          </a:xfrm>
          <a:prstGeom prst="rect">
            <a:avLst/>
          </a:prstGeom>
          <a:solidFill>
            <a:srgbClr val="E8805A"/>
          </a:solidFill>
          <a:ln w="12700">
            <a:solidFill>
              <a:srgbClr val="E8805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18304" y="3986784"/>
            <a:ext cx="19019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Weighted TF-IDF + FK readability formula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803136" y="822960"/>
            <a:ext cx="2084832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03136" y="82296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Dev &amp; Deployment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803136" y="1298448"/>
            <a:ext cx="2084832" cy="80467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03136" y="1298448"/>
            <a:ext cx="54864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31152" y="1298448"/>
            <a:ext cx="19019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Git &amp; GitHub — version control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803136" y="2194560"/>
            <a:ext cx="2084832" cy="80467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03136" y="2194560"/>
            <a:ext cx="54864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31152" y="2194560"/>
            <a:ext cx="19019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Render (Singapore) — free tier cloud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803136" y="3090672"/>
            <a:ext cx="2084832" cy="80467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803136" y="3090672"/>
            <a:ext cx="54864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31152" y="3090672"/>
            <a:ext cx="19019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Chrome Web Store + Edge Add-ons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803136" y="3986784"/>
            <a:ext cx="2084832" cy="80467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803136" y="3986784"/>
            <a:ext cx="54864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31152" y="3986784"/>
            <a:ext cx="19019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Chrome Storage API — sync + local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Implementation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4592" y="822960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05A"/>
                </a:solidFill>
              </a:rPr>
              <a:t>Browser Extension Modules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4592" y="1188720"/>
            <a:ext cx="4096512" cy="80467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188720"/>
            <a:ext cx="54864" cy="804672"/>
          </a:xfrm>
          <a:prstGeom prst="rect">
            <a:avLst/>
          </a:prstGeom>
          <a:solidFill>
            <a:srgbClr val="E8805A"/>
          </a:solidFill>
          <a:ln w="12700">
            <a:solidFill>
              <a:srgbClr val="E880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225296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05A"/>
                </a:solidFill>
              </a:rPr>
              <a:t>manifest.json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" y="1499616"/>
            <a:ext cx="3895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Declares permissions (activeTab, scripting, storage), registers background.js as service worker, Alt+S shortcut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64592" y="2084832"/>
            <a:ext cx="4096512" cy="80467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" y="2084832"/>
            <a:ext cx="54864" cy="804672"/>
          </a:xfrm>
          <a:prstGeom prst="rect">
            <a:avLst/>
          </a:prstGeom>
          <a:solidFill>
            <a:srgbClr val="E8805A"/>
          </a:solidFill>
          <a:ln w="12700">
            <a:solidFill>
              <a:srgbClr val="E880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2121408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05A"/>
                </a:solidFill>
              </a:rPr>
              <a:t>content.js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" y="2395728"/>
            <a:ext cx="3895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Double-injection guard; 5,000-char limit with notice; XSS protection via escapeHtml(); AbortController 120s timeout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64592" y="2980944"/>
            <a:ext cx="4096512" cy="80467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2980944"/>
            <a:ext cx="54864" cy="804672"/>
          </a:xfrm>
          <a:prstGeom prst="rect">
            <a:avLst/>
          </a:prstGeom>
          <a:solidFill>
            <a:srgbClr val="E8805A"/>
          </a:solidFill>
          <a:ln w="12700">
            <a:solidFill>
              <a:srgbClr val="E880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301752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05A"/>
                </a:solidFill>
              </a:rPr>
              <a:t>background.js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2608" y="3291840"/>
            <a:ext cx="3895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Toggle panel on icon click; relay Alt+S keyboard command to active tab content script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64592" y="3877056"/>
            <a:ext cx="4096512" cy="80467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3877056"/>
            <a:ext cx="54864" cy="804672"/>
          </a:xfrm>
          <a:prstGeom prst="rect">
            <a:avLst/>
          </a:prstGeom>
          <a:solidFill>
            <a:srgbClr val="E8805A"/>
          </a:solidFill>
          <a:ln w="12700">
            <a:solidFill>
              <a:srgbClr val="E880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" y="3913632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05A"/>
                </a:solidFill>
              </a:rPr>
              <a:t>options.js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2608" y="4187952"/>
            <a:ext cx="3895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Configure API URL, max characters, PDF redirect behaviour — persisted via chrome.storage.sync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82896" y="822960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Backend Modules (FastAPI)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82896" y="1188720"/>
            <a:ext cx="4096512" cy="80467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82896" y="1188720"/>
            <a:ext cx="54864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0912" y="1225296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main.py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10912" y="1499616"/>
            <a:ext cx="3895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4 endpoints: POST /analyze, POST /export-pdf (StreamingResponse + BackgroundTasks cleanup), GET/DELETE /history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82896" y="2084832"/>
            <a:ext cx="4096512" cy="80467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82896" y="2084832"/>
            <a:ext cx="54864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10912" y="2121408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nlp_service.py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10912" y="2395728"/>
            <a:ext cx="3895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Orchestrator: initialises all modules, calls simplify → generate_questions → extract_keywords → detect_difficulty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82896" y="2980944"/>
            <a:ext cx="4096512" cy="80467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82896" y="2980944"/>
            <a:ext cx="54864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10912" y="301752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model_loader.py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10912" y="3291840"/>
            <a:ext cx="3895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Singleton: loads spaCy en_core_web_sm once at startup via global-variable guard — no duplicate loading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82896" y="3877056"/>
            <a:ext cx="4096512" cy="80467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82896" y="3877056"/>
            <a:ext cx="54864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10912" y="3913632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history_manager.py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10912" y="4187952"/>
            <a:ext cx="3895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UUID-based, thread-safe JSON history store with threading.Lock + atomic writes. Disabled on Render (ephemeral FS)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Testing &amp; Results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64592" y="822960"/>
            <a:ext cx="2834640" cy="384048"/>
          </a:xfrm>
          <a:prstGeom prst="rect">
            <a:avLst/>
          </a:prstGeom>
          <a:solidFill>
            <a:srgbClr val="E8805A"/>
          </a:solidFill>
          <a:ln w="12700">
            <a:solidFill>
              <a:srgbClr val="E880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8229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Unit Testing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64592" y="1207008"/>
            <a:ext cx="2834640" cy="292608"/>
          </a:xfrm>
          <a:prstGeom prst="rect">
            <a:avLst/>
          </a:prstGeom>
          <a:solidFill>
            <a:srgbClr val="162A3F"/>
          </a:solidFill>
          <a:ln w="12700">
            <a:solidFill>
              <a:srgbClr val="E880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20700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805A"/>
                </a:solidFill>
              </a:rPr>
              <a:t>✓ 14 test cases — all PASS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4680" y="822960"/>
            <a:ext cx="283464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8229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Integration Testing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154680" y="1207008"/>
            <a:ext cx="2834640" cy="292608"/>
          </a:xfrm>
          <a:prstGeom prst="rect">
            <a:avLst/>
          </a:prstGeom>
          <a:solidFill>
            <a:srgbClr val="162A3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20700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✓ 10 test cases — all PASS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44768" y="822960"/>
            <a:ext cx="2834640" cy="384048"/>
          </a:xfrm>
          <a:prstGeom prst="rect">
            <a:avLst/>
          </a:prstGeom>
          <a:solidFill>
            <a:srgbClr val="E8805A"/>
          </a:solidFill>
          <a:ln w="12700">
            <a:solidFill>
              <a:srgbClr val="E880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4768" y="8229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System Testing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44768" y="1207008"/>
            <a:ext cx="2834640" cy="292608"/>
          </a:xfrm>
          <a:prstGeom prst="rect">
            <a:avLst/>
          </a:prstGeom>
          <a:solidFill>
            <a:srgbClr val="162A3F"/>
          </a:solidFill>
          <a:ln w="12700">
            <a:solidFill>
              <a:srgbClr val="E880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6208" y="120700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805A"/>
                </a:solidFill>
              </a:rPr>
              <a:t>✓ End-to-end — all PASS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64592" y="1591056"/>
            <a:ext cx="2834640" cy="420624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159105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✓ Text selection on any webpage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64592" y="2066544"/>
            <a:ext cx="2834640" cy="420624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206654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✓ Simplification (valid + edge cases)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64592" y="2542032"/>
            <a:ext cx="2834640" cy="420624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254203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✓ Question generation (4+ sentences)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64592" y="3017520"/>
            <a:ext cx="2834640" cy="420624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" y="301752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✓ Keyword extraction (academic text)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64592" y="3493008"/>
            <a:ext cx="2834640" cy="420624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49300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✓ Difficulty: Easy / Medium / Hard labels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64592" y="3968496"/>
            <a:ext cx="2834640" cy="420624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396849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✓ PDF export + client-side Markdown export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64592" y="4443984"/>
            <a:ext cx="2834640" cy="420624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444398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✓ History view, search &amp; Alt+S shortcut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154680" y="1591056"/>
            <a:ext cx="2834640" cy="420624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46120" y="159105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✓ POST /analyze → HTTP 200 + full JSON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154680" y="2066544"/>
            <a:ext cx="2834640" cy="420624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46120" y="206654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✓ POST /analyze (empty) → HTTP 422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154680" y="2542032"/>
            <a:ext cx="2834640" cy="420624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46120" y="254203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✓ FLAN-T5 simplification field populated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154680" y="3017520"/>
            <a:ext cx="2834640" cy="420624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46120" y="301752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✓ Questions list (≤5) in JSON response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154680" y="3493008"/>
            <a:ext cx="2834640" cy="420624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46120" y="349300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✓ Keyword output via spaCy NER pipeline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154680" y="3968496"/>
            <a:ext cx="2834640" cy="420624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46120" y="396849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✓ Backend unreachable → user-facing error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154680" y="4443984"/>
            <a:ext cx="2834640" cy="420624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46120" y="444398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✓ PDF streamed + temp file cleaned up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144768" y="1591056"/>
            <a:ext cx="2834640" cy="420624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36208" y="159105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✓ Chrome 124+ and Edge 124+ Win/Linux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144768" y="2066544"/>
            <a:ext cx="2834640" cy="420624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36208" y="206654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✓ Avg response 3–6s warm; 30–60s cold start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144768" y="2542032"/>
            <a:ext cx="2834640" cy="420624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36208" y="254203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✓ Keywords + difficulty: &lt; 1s response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144768" y="3017520"/>
            <a:ext cx="2834640" cy="420624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36208" y="301752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✓ PDF export well-formatted all test cases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144768" y="3493008"/>
            <a:ext cx="2834640" cy="420624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36208" y="349300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✓ History persists across browser sessions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144768" y="3968496"/>
            <a:ext cx="2834640" cy="420624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36208" y="396849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✓ Double-injection guard all scenarios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144768" y="4443984"/>
            <a:ext cx="2834640" cy="420624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36208" y="444398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✓ 5,000-char boundary + Alt+S on SPAs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164592" y="4919472"/>
            <a:ext cx="8814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C71"/>
                </a:solidFill>
              </a:rPr>
              <a:t>All stated objectives met — system demonstrated practical effectiveness as an AI-powered academic support tool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Conclusion &amp; Future Recommendations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64592" y="822960"/>
            <a:ext cx="4315968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822960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✓ Project Achievements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64592" y="1298448"/>
            <a:ext cx="4315968" cy="53035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298448"/>
            <a:ext cx="54864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3258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FLAN-T5 Simplification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" y="15453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Sentence routing + quality guards produce consistent, readable academic output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64592" y="1901952"/>
            <a:ext cx="4315968" cy="53035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1901952"/>
            <a:ext cx="54864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19293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Question Generation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" y="21488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Concurrent Seq2Seq dispatch yields up to 5 deduplicated exam-oriented questions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64592" y="2505456"/>
            <a:ext cx="4315968" cy="53035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2505456"/>
            <a:ext cx="54864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25328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Keyword Extraction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2608" y="275234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Multi-signal weighted pipeline: TF-IDF + NER + positional boosts via spaCy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64592" y="3108960"/>
            <a:ext cx="4315968" cy="53035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3108960"/>
            <a:ext cx="54864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" y="31363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Difficulty Assessment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92608" y="33558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Dual-metric FK + WPS classifier — more reliable than single-metric approach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64592" y="3712464"/>
            <a:ext cx="4315968" cy="53035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3712464"/>
            <a:ext cx="54864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3739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Export &amp; History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92608" y="39593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PDF (FPDF2) + Markdown export; searchable UUID history across sessions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64592" y="4315968"/>
            <a:ext cx="4315968" cy="530352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4592" y="4315968"/>
            <a:ext cx="54864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" y="43434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Fully Deployed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92608" y="456285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Live on Render (Singapore); extension published for Chrome and Edge browsers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63440" y="822960"/>
            <a:ext cx="4315968" cy="384048"/>
          </a:xfrm>
          <a:prstGeom prst="rect">
            <a:avLst/>
          </a:prstGeom>
          <a:solidFill>
            <a:srgbClr val="E8805A"/>
          </a:solidFill>
          <a:ln w="12700">
            <a:solidFill>
              <a:srgbClr val="E880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822960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🚀 Future Recommendations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63440" y="1298448"/>
            <a:ext cx="4315968" cy="457200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1298448"/>
            <a:ext cx="54864" cy="457200"/>
          </a:xfrm>
          <a:prstGeom prst="rect">
            <a:avLst/>
          </a:prstGeom>
          <a:solidFill>
            <a:srgbClr val="E8805A"/>
          </a:solidFill>
          <a:ln w="12700">
            <a:solidFill>
              <a:srgbClr val="E880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91456" y="13167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05A"/>
                </a:solidFill>
              </a:rPr>
              <a:t>Multi-Language Support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91456" y="153619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Extend to Nepali, Hindi and other languages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63440" y="1819656"/>
            <a:ext cx="4315968" cy="457200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1819656"/>
            <a:ext cx="54864" cy="457200"/>
          </a:xfrm>
          <a:prstGeom prst="rect">
            <a:avLst/>
          </a:prstGeom>
          <a:solidFill>
            <a:srgbClr val="E8805A"/>
          </a:solidFill>
          <a:ln w="12700">
            <a:solidFill>
              <a:srgbClr val="E880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91456" y="18379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05A"/>
                </a:solidFill>
              </a:rPr>
              <a:t>AI Model Fine-Tuning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91456" y="205740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Fine-tune on academic domain-specific datasets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663440" y="2340864"/>
            <a:ext cx="4315968" cy="457200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2340864"/>
            <a:ext cx="54864" cy="457200"/>
          </a:xfrm>
          <a:prstGeom prst="rect">
            <a:avLst/>
          </a:prstGeom>
          <a:solidFill>
            <a:srgbClr val="E8805A"/>
          </a:solidFill>
          <a:ln w="12700">
            <a:solidFill>
              <a:srgbClr val="E880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91456" y="23591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05A"/>
                </a:solidFill>
              </a:rPr>
              <a:t>ML-Based Difficulty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791456" y="25786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Coh-Metrix / Dale-Chall vocabulary scoring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663440" y="2862072"/>
            <a:ext cx="4315968" cy="457200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63440" y="2862072"/>
            <a:ext cx="54864" cy="457200"/>
          </a:xfrm>
          <a:prstGeom prst="rect">
            <a:avLst/>
          </a:prstGeom>
          <a:solidFill>
            <a:srgbClr val="E8805A"/>
          </a:solidFill>
          <a:ln w="12700">
            <a:solidFill>
              <a:srgbClr val="E880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91456" y="28803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05A"/>
                </a:solidFill>
              </a:rPr>
              <a:t>User Auth &amp; Cloud Sync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791456" y="309981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Account management + history across devices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663440" y="3383280"/>
            <a:ext cx="4315968" cy="457200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63440" y="3383280"/>
            <a:ext cx="54864" cy="457200"/>
          </a:xfrm>
          <a:prstGeom prst="rect">
            <a:avLst/>
          </a:prstGeom>
          <a:solidFill>
            <a:srgbClr val="E8805A"/>
          </a:solidFill>
          <a:ln w="12700">
            <a:solidFill>
              <a:srgbClr val="E8805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91456" y="34015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05A"/>
                </a:solidFill>
              </a:rPr>
              <a:t>Personalized Learning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791456" y="362102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Flashcard generation, concept maps, tracking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663440" y="3904488"/>
            <a:ext cx="4315968" cy="457200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63440" y="3904488"/>
            <a:ext cx="54864" cy="457200"/>
          </a:xfrm>
          <a:prstGeom prst="rect">
            <a:avLst/>
          </a:prstGeom>
          <a:solidFill>
            <a:srgbClr val="E8805A"/>
          </a:solidFill>
          <a:ln w="12700">
            <a:solidFill>
              <a:srgbClr val="E8805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91456" y="39227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05A"/>
                </a:solidFill>
              </a:rPr>
              <a:t>Offline Mode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791456" y="41422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Quantized FLAN-T5 deployed locally in browser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663440" y="4425696"/>
            <a:ext cx="4315968" cy="457200"/>
          </a:xfrm>
          <a:prstGeom prst="rect">
            <a:avLst/>
          </a:prstGeom>
          <a:solidFill>
            <a:srgbClr val="162A3F"/>
          </a:solidFill>
          <a:ln w="12700">
            <a:solidFill>
              <a:srgbClr val="162A3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663440" y="4425696"/>
            <a:ext cx="54864" cy="457200"/>
          </a:xfrm>
          <a:prstGeom prst="rect">
            <a:avLst/>
          </a:prstGeom>
          <a:solidFill>
            <a:srgbClr val="E8805A"/>
          </a:solidFill>
          <a:ln w="12700">
            <a:solidFill>
              <a:srgbClr val="E8805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91456" y="44439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05A"/>
                </a:solidFill>
              </a:rPr>
              <a:t>More Browsers &amp; LMS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791456" y="46634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Firefox, Safari + Moodle / Google Classroom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56032"/>
            <a:ext cx="1005840" cy="91440"/>
          </a:xfrm>
          <a:prstGeom prst="rect">
            <a:avLst/>
          </a:prstGeom>
          <a:solidFill>
            <a:srgbClr val="E8805A"/>
          </a:solidFill>
          <a:ln w="12700">
            <a:solidFill>
              <a:srgbClr val="E880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29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📖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74320" y="137160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74320" y="21488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4D8"/>
                </a:solidFill>
              </a:rPr>
              <a:t>AI Note Analyzer — Empowering Students with Real-Time 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2651760"/>
            <a:ext cx="5029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83464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B8C8"/>
                </a:solidFill>
              </a:rPr>
              <a:t>Open for Questions &amp; Discussion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333756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Arpan Poudel (79010988)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Devraj Silwal (79010998)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Yugal Poudel (79011030)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416052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B8C8"/>
                </a:solidFill>
              </a:rPr>
              <a:t>Supervisor: Mr. Rhishav Poudyal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64592"/>
            <a:ext cx="164592" cy="164592"/>
          </a:xfrm>
          <a:prstGeom prst="ellipse">
            <a:avLst/>
          </a:prstGeom>
          <a:solidFill>
            <a:srgbClr val="2A5080">
              <a:alpha val="80000"/>
            </a:srgbClr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20840" y="164592"/>
            <a:ext cx="164592" cy="164592"/>
          </a:xfrm>
          <a:prstGeom prst="ellipse">
            <a:avLst/>
          </a:prstGeom>
          <a:solidFill>
            <a:srgbClr val="2A5080">
              <a:alpha val="80000"/>
            </a:srgbClr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69480" y="164592"/>
            <a:ext cx="164592" cy="164592"/>
          </a:xfrm>
          <a:prstGeom prst="ellipse">
            <a:avLst/>
          </a:prstGeom>
          <a:solidFill>
            <a:srgbClr val="2A5080">
              <a:alpha val="80000"/>
            </a:srgbClr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18120" y="164592"/>
            <a:ext cx="164592" cy="164592"/>
          </a:xfrm>
          <a:prstGeom prst="ellipse">
            <a:avLst/>
          </a:prstGeom>
          <a:solidFill>
            <a:srgbClr val="2A5080">
              <a:alpha val="80000"/>
            </a:srgbClr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164592"/>
            <a:ext cx="164592" cy="164592"/>
          </a:xfrm>
          <a:prstGeom prst="ellipse">
            <a:avLst/>
          </a:prstGeom>
          <a:solidFill>
            <a:srgbClr val="2A5080">
              <a:alpha val="80000"/>
            </a:srgbClr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69680" y="164592"/>
            <a:ext cx="164592" cy="164592"/>
          </a:xfrm>
          <a:prstGeom prst="ellipse">
            <a:avLst/>
          </a:prstGeom>
          <a:solidFill>
            <a:srgbClr val="2A5080">
              <a:alpha val="80000"/>
            </a:srgbClr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685800"/>
            <a:ext cx="164592" cy="164592"/>
          </a:xfrm>
          <a:prstGeom prst="ellipse">
            <a:avLst/>
          </a:prstGeom>
          <a:solidFill>
            <a:srgbClr val="2A5080">
              <a:alpha val="80000"/>
            </a:srgbClr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20840" y="685800"/>
            <a:ext cx="164592" cy="164592"/>
          </a:xfrm>
          <a:prstGeom prst="ellipse">
            <a:avLst/>
          </a:prstGeom>
          <a:solidFill>
            <a:srgbClr val="2A5080">
              <a:alpha val="80000"/>
            </a:srgbClr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69480" y="685800"/>
            <a:ext cx="164592" cy="164592"/>
          </a:xfrm>
          <a:prstGeom prst="ellipse">
            <a:avLst/>
          </a:prstGeom>
          <a:solidFill>
            <a:srgbClr val="2A5080">
              <a:alpha val="80000"/>
            </a:srgbClr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18120" y="685800"/>
            <a:ext cx="164592" cy="164592"/>
          </a:xfrm>
          <a:prstGeom prst="ellipse">
            <a:avLst/>
          </a:prstGeom>
          <a:solidFill>
            <a:srgbClr val="2A5080">
              <a:alpha val="80000"/>
            </a:srgbClr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66760" y="685800"/>
            <a:ext cx="164592" cy="164592"/>
          </a:xfrm>
          <a:prstGeom prst="ellipse">
            <a:avLst/>
          </a:prstGeom>
          <a:solidFill>
            <a:srgbClr val="2A5080">
              <a:alpha val="80000"/>
            </a:srgbClr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69680" y="685800"/>
            <a:ext cx="164592" cy="164592"/>
          </a:xfrm>
          <a:prstGeom prst="ellipse">
            <a:avLst/>
          </a:prstGeom>
          <a:solidFill>
            <a:srgbClr val="2A5080">
              <a:alpha val="80000"/>
            </a:srgbClr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1234440"/>
            <a:ext cx="164592" cy="164592"/>
          </a:xfrm>
          <a:prstGeom prst="ellipse">
            <a:avLst/>
          </a:prstGeom>
          <a:solidFill>
            <a:srgbClr val="2A5080">
              <a:alpha val="80000"/>
            </a:srgbClr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20840" y="1234440"/>
            <a:ext cx="164592" cy="164592"/>
          </a:xfrm>
          <a:prstGeom prst="ellipse">
            <a:avLst/>
          </a:prstGeom>
          <a:solidFill>
            <a:srgbClr val="2A5080">
              <a:alpha val="80000"/>
            </a:srgbClr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4389120"/>
            <a:ext cx="164592" cy="164592"/>
          </a:xfrm>
          <a:prstGeom prst="ellipse">
            <a:avLst/>
          </a:prstGeom>
          <a:solidFill>
            <a:srgbClr val="2A5080">
              <a:alpha val="80000"/>
            </a:srgbClr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20840" y="4389120"/>
            <a:ext cx="164592" cy="164592"/>
          </a:xfrm>
          <a:prstGeom prst="ellipse">
            <a:avLst/>
          </a:prstGeom>
          <a:solidFill>
            <a:srgbClr val="2A5080">
              <a:alpha val="80000"/>
            </a:srgbClr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69480" y="4389120"/>
            <a:ext cx="164592" cy="164592"/>
          </a:xfrm>
          <a:prstGeom prst="ellipse">
            <a:avLst/>
          </a:prstGeom>
          <a:solidFill>
            <a:srgbClr val="2A5080">
              <a:alpha val="80000"/>
            </a:srgbClr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18120" y="4389120"/>
            <a:ext cx="164592" cy="164592"/>
          </a:xfrm>
          <a:prstGeom prst="ellipse">
            <a:avLst/>
          </a:prstGeom>
          <a:solidFill>
            <a:srgbClr val="2A5080">
              <a:alpha val="80000"/>
            </a:srgbClr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66760" y="4389120"/>
            <a:ext cx="164592" cy="164592"/>
          </a:xfrm>
          <a:prstGeom prst="ellipse">
            <a:avLst/>
          </a:prstGeom>
          <a:solidFill>
            <a:srgbClr val="2A5080">
              <a:alpha val="80000"/>
            </a:srgbClr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69680" y="4389120"/>
            <a:ext cx="164592" cy="164592"/>
          </a:xfrm>
          <a:prstGeom prst="ellipse">
            <a:avLst/>
          </a:prstGeom>
          <a:solidFill>
            <a:srgbClr val="2A5080">
              <a:alpha val="80000"/>
            </a:srgbClr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16459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Madan Bhandari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Memorial College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00800" y="2377440"/>
            <a:ext cx="2103120" cy="64008"/>
          </a:xfrm>
          <a:prstGeom prst="rect">
            <a:avLst/>
          </a:prstGeom>
          <a:solidFill>
            <a:srgbClr val="E8805A"/>
          </a:solidFill>
          <a:ln w="12700">
            <a:solidFill>
              <a:srgbClr val="E880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35040" y="25146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B8C8"/>
                </a:solidFill>
              </a:rPr>
              <a:t>Supervisor: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B8C8"/>
                </a:solidFill>
              </a:rPr>
              <a:t>Mr. Rhishav Poudyal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035040" y="32186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8C8"/>
                </a:solidFill>
              </a:rPr>
              <a:t>CSC412 | May 2026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035040" y="3657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github.com/Yugalpoudel07/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smart-study-assistant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Note Analyzer Browser Extension — Final Defense</dc:title>
  <dc:subject>PptxGenJS Presentation</dc:subject>
  <dc:creator>PptxGenJS</dc:creator>
  <cp:lastModifiedBy>PptxGenJS</cp:lastModifiedBy>
  <cp:revision>1</cp:revision>
  <dcterms:created xsi:type="dcterms:W3CDTF">2026-05-31T13:34:37Z</dcterms:created>
  <dcterms:modified xsi:type="dcterms:W3CDTF">2026-05-31T13:34:37Z</dcterms:modified>
</cp:coreProperties>
</file>