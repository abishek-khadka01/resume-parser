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56032"/>
            <a:ext cx="1005840" cy="9144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</a:rPr>
              <a:t>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417320"/>
            <a:ext cx="54864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ResuMatrix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121408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00B4D8"/>
                </a:solidFill>
              </a:rPr>
              <a:t>AI-Powered Resume Analysis &amp; Job Matching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798064"/>
            <a:ext cx="50292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294436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>
                <a:solidFill>
                  <a:srgbClr val="A8B8C8"/>
                </a:solidFill>
              </a:rPr>
              <a:t>Amrit College, Tribhuvan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291840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Alex Phuyal (79010151) • Abishek Khadka (79010149) • Biraj Sapkota (79010173)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Supervisor: Er. Akkal Bist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64592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20840" y="164592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269480" y="164592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18120" y="164592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66760" y="164592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869680" y="164592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68580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720840" y="68580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269480" y="68580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818120" y="68580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366760" y="68580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69680" y="68580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123444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720840" y="123444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72200" y="17830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720840" y="17830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269480" y="17830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818120" y="17830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72200" y="38404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720840" y="38404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818120" y="38404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366760" y="38404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869680" y="38404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72200" y="438912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720840" y="438912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269480" y="438912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818120" y="438912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366760" y="438912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869680" y="438912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035040" y="192024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B.Sc. CSIT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2377440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>
                <a:solidFill>
                  <a:srgbClr val="A8B8C8"/>
                </a:solidFill>
              </a:rPr>
              <a:t>Final Year Project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2798064"/>
            <a:ext cx="2103120" cy="64008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035040" y="2944368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Final Defense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3749039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>
                <a:solidFill>
                  <a:srgbClr val="A8B8C8"/>
                </a:solidFill>
              </a:rP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Presentation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896112"/>
            <a:ext cx="4315968" cy="82296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4592" y="896112"/>
            <a:ext cx="640080" cy="82296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" y="896112"/>
            <a:ext cx="640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896112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>
                <a:solidFill>
                  <a:srgbClr val="FFFFFF"/>
                </a:solidFill>
              </a:rPr>
              <a:t>Introduction &amp; Problem Statement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1920240"/>
            <a:ext cx="4315968" cy="82296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4592" y="1920240"/>
            <a:ext cx="640080" cy="8229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4592" y="1920240"/>
            <a:ext cx="640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>
                <a:solidFill>
                  <a:srgbClr val="FFFFFF"/>
                </a:solidFill>
              </a:rPr>
              <a:t>Project Objectives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" y="2944368"/>
            <a:ext cx="4315968" cy="82296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4592" y="2944368"/>
            <a:ext cx="640080" cy="82296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4592" y="2944368"/>
            <a:ext cx="640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944368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>
                <a:solidFill>
                  <a:srgbClr val="FFFFFF"/>
                </a:solidFill>
              </a:rPr>
              <a:t>Literature Review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" y="3968496"/>
            <a:ext cx="4315968" cy="82296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64592" y="3968496"/>
            <a:ext cx="640080" cy="8229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64592" y="3968496"/>
            <a:ext cx="640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68496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>
                <a:solidFill>
                  <a:srgbClr val="FFFFFF"/>
                </a:solidFill>
              </a:rPr>
              <a:t>System Flows — Auth, Parsing, Scoring &amp; Optimization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81728" y="896112"/>
            <a:ext cx="4315968" cy="82296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81728" y="896112"/>
            <a:ext cx="640080" cy="82296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81728" y="896112"/>
            <a:ext cx="640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31536" y="896112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>
                <a:solidFill>
                  <a:srgbClr val="FFFFFF"/>
                </a:solidFill>
              </a:rPr>
              <a:t>System Architecture &amp; Design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81728" y="1920240"/>
            <a:ext cx="4315968" cy="82296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681728" y="1920240"/>
            <a:ext cx="640080" cy="8229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81728" y="1920240"/>
            <a:ext cx="640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31536" y="192024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81728" y="2944368"/>
            <a:ext cx="4315968" cy="82296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681728" y="2944368"/>
            <a:ext cx="640080" cy="82296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81728" y="2944368"/>
            <a:ext cx="640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31536" y="2944368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>
                <a:solidFill>
                  <a:srgbClr val="FFFFFF"/>
                </a:solidFill>
              </a:rPr>
              <a:t>Implementation &amp; Testing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81728" y="3968496"/>
            <a:ext cx="4315968" cy="82296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681728" y="3968496"/>
            <a:ext cx="640080" cy="8229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81728" y="3968496"/>
            <a:ext cx="640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31536" y="3968496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>
                <a:solidFill>
                  <a:srgbClr val="FFFFFF"/>
                </a:solidFill>
              </a:rPr>
              <a:t>Conclusion &amp; Future Recommendations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4592" y="5010912"/>
            <a:ext cx="1097280" cy="182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63840" y="493776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>
                <a:solidFill>
                  <a:srgbClr val="A8B8C8"/>
                </a:solidFill>
              </a:rPr>
              <a:t>ResuMatrix  ·  02/15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Introduction &amp; 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841248"/>
            <a:ext cx="2834640" cy="105156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" y="841248"/>
            <a:ext cx="28346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0D1B2A"/>
                </a:solidFill>
              </a:rPr>
              <a:t>100s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1316736"/>
            <a:ext cx="2834640" cy="5760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6032" y="1316736"/>
            <a:ext cx="265176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of listings scanned manually per search, most irrelevant to the candidate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841248"/>
            <a:ext cx="2834640" cy="105156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54680" y="841248"/>
            <a:ext cx="28346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0D1B2A"/>
                </a:solidFill>
              </a:rPr>
              <a:t>Zero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316736"/>
            <a:ext cx="2834640" cy="5760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46120" y="1316736"/>
            <a:ext cx="265176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objective personalized fit signal offered by today's job boards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4768" y="841248"/>
            <a:ext cx="2834640" cy="105156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44768" y="841248"/>
            <a:ext cx="28346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0D1B2A"/>
                </a:solidFill>
              </a:rPr>
              <a:t>Manual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4768" y="1316736"/>
            <a:ext cx="2834640" cy="5760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36207" y="1316736"/>
            <a:ext cx="265176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</a:rPr>
              <a:t>resume tailoring per posting — slow, inconsistent, often skipped entirely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" y="20574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Problem Statement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" y="2487168"/>
            <a:ext cx="320040" cy="32004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64592" y="248716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450592"/>
            <a:ext cx="83210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Job seekers must manually cross-reference every listing against their own resume — slow, inconsistent, and easy to get wrong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" y="3108960"/>
            <a:ext cx="320040" cy="32004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4592" y="31089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072384"/>
            <a:ext cx="83210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Existing job boards surface listings but compute no personalized fit signal; resume tools improve writing but never compare against a specific job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" y="3730752"/>
            <a:ext cx="320040" cy="32004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64592" y="3730752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694176"/>
            <a:ext cx="83210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No single tool closes the loop: parse the resume once, then use it to both rank incoming listings and generate job-specific edit suggestions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" y="4389120"/>
            <a:ext cx="8814816" cy="5669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56032" y="4389120"/>
            <a:ext cx="8631936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💡 Solution: ResuMatrix — parse a resume once, then use it to score, rank &amp; optimize applications against live job listings, end-to-end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2" y="5010912"/>
            <a:ext cx="1097280" cy="182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63840" y="493776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>
                <a:solidFill>
                  <a:srgbClr val="A8B8C8"/>
                </a:solidFill>
              </a:rPr>
              <a:t>ResuMatrix  ·  03/15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896112"/>
            <a:ext cx="4315968" cy="123444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4592" y="896112"/>
            <a:ext cx="4315968" cy="7315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1751" y="987552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E8805A"/>
                </a:solidFill>
              </a:rPr>
              <a:t>📄 Resume Parsing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1" y="1389888"/>
            <a:ext cx="404164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Extract contact info, skills, experience &amp; education from PDF/DOCX via regex + fuzzy/TF-IDF segmenter + NER + gazetteer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681728" y="896112"/>
            <a:ext cx="4315968" cy="123444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81728" y="896112"/>
            <a:ext cx="4315968" cy="7315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18888" y="987552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🎯 Job Match 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1389888"/>
            <a:ext cx="404164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Blend lexical (TF-IDF), semantic (sentence embeddings) &amp; skill-overlap signals into a single 1–10 match score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" y="2286000"/>
            <a:ext cx="4315968" cy="123444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4592" y="2286000"/>
            <a:ext cx="4315968" cy="7315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1751" y="2377440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E8805A"/>
                </a:solidFill>
              </a:rPr>
              <a:t>✍️ Resume 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1" y="2779776"/>
            <a:ext cx="404164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Suggest job-targeted skill &amp; bullet edits from the same scoring signals — never fabricating a claim the user didn't make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81728" y="2286000"/>
            <a:ext cx="4315968" cy="123444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81728" y="2286000"/>
            <a:ext cx="4315968" cy="7315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18888" y="2377440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🔐 Secure Authentication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8888" y="2779776"/>
            <a:ext cx="404164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Local email/password (Argon2 + JWT) and Google OAuth 2.0 sign-in converge on one session mechanism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" y="3675887"/>
            <a:ext cx="8814816" cy="109728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64592" y="3675887"/>
            <a:ext cx="8814816" cy="7315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1752" y="3767328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E8805A"/>
                </a:solidFill>
              </a:rPr>
              <a:t>📑 Optimized PDF Export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" y="4315074"/>
            <a:ext cx="85039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dirty="0">
                <a:solidFill>
                  <a:srgbClr val="FFFFFF"/>
                </a:solidFill>
              </a:rPr>
              <a:t>Downloadable, ATS-formatted resume PDF tailored to a </a:t>
            </a:r>
            <a:r>
              <a:rPr sz="1200">
                <a:solidFill>
                  <a:srgbClr val="FFFFFF"/>
                </a:solidFill>
              </a:rPr>
              <a:t>specific job</a:t>
            </a:r>
            <a:endParaRPr sz="1200" dirty="0">
              <a:solidFill>
                <a:srgbClr val="FFFFFF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64592" y="5010912"/>
            <a:ext cx="1097280" cy="182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0" y="493776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>
                <a:solidFill>
                  <a:srgbClr val="A8B8C8"/>
                </a:solidFill>
              </a:rPr>
              <a:t>ResuMatrix  ·  04/15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Literature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896112"/>
            <a:ext cx="8814816" cy="749808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4592" y="896112"/>
            <a:ext cx="54864" cy="749808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7472" y="95097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8805A"/>
                </a:solidFill>
              </a:rPr>
              <a:t>Sentence-BERT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29844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>
                <a:solidFill>
                  <a:srgbClr val="A8B8C8"/>
                </a:solidFill>
              </a:rPr>
              <a:t>Reimers &amp; Gurevych, 2019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005840"/>
            <a:ext cx="6492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Sentence embeddings for semantic similarity — basis of the semantic-match signal in job scoring and entity/skill extraction alike.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737360"/>
            <a:ext cx="8814816" cy="749808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4592" y="1737360"/>
            <a:ext cx="54864" cy="74980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1792224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MiniLM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139696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>
                <a:solidFill>
                  <a:srgbClr val="A8B8C8"/>
                </a:solidFill>
              </a:rPr>
              <a:t>Wang et al., 2020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1847088"/>
            <a:ext cx="6492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Distilled transformer for efficient sentence embeddings — the exact model (all-MiniLM-L6-v2) powering semantic match scoring.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" y="2578608"/>
            <a:ext cx="8814816" cy="749808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64592" y="2578608"/>
            <a:ext cx="54864" cy="749808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7472" y="263347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8805A"/>
                </a:solidFill>
              </a:rPr>
              <a:t>TF-IDF Term Weighting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298094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>
                <a:solidFill>
                  <a:srgbClr val="A8B8C8"/>
                </a:solidFill>
              </a:rPr>
              <a:t>Salton &amp; Buckley, 1988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2688336"/>
            <a:ext cx="6492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Classical term-weighting for text retrieval — used for lexical resume-job similarity and section classification.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2" y="3419856"/>
            <a:ext cx="8814816" cy="749808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64592" y="3419856"/>
            <a:ext cx="54864" cy="74980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7472" y="347472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spaCy / Industrial NLP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" y="38221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>
                <a:solidFill>
                  <a:srgbClr val="A8B8C8"/>
                </a:solidFill>
              </a:rPr>
              <a:t>Honnibal &amp; Montani, 2017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3529584"/>
            <a:ext cx="6492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Industrial-strength NLP with Bloom embeddings — powers the gazetteer-based skill / title / degree matcher.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" y="5010912"/>
            <a:ext cx="1097280" cy="182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0" y="493776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>
                <a:solidFill>
                  <a:srgbClr val="A8B8C8"/>
                </a:solidFill>
              </a:rPr>
              <a:t>ResuMatrix  ·  05/15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System Flow —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786384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① Registration, Login &amp; Google OAuth 2.0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133856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64592" y="1133856"/>
            <a:ext cx="41148" cy="45720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" y="1133856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E8805A"/>
                </a:solidFill>
              </a:rPr>
              <a:t>USER  </a:t>
            </a:r>
            <a:r>
              <a:rPr sz="900">
                <a:solidFill>
                  <a:srgbClr val="FFFFFF"/>
                </a:solidFill>
              </a:rPr>
              <a:t>Submits email/password, or clicks Google Sign-In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" y="1572768"/>
            <a:ext cx="4160520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>
                <a:solidFill>
                  <a:srgbClr val="A8B8C8"/>
                </a:solidFill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696212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4592" y="1696212"/>
            <a:ext cx="41148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8" y="1696212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0B4D8"/>
                </a:solidFill>
              </a:rPr>
              <a:t>FRONTEND  </a:t>
            </a:r>
            <a:r>
              <a:rPr sz="900">
                <a:solidFill>
                  <a:srgbClr val="FFFFFF"/>
                </a:solidFill>
              </a:rPr>
              <a:t>POST /api/auth/register or /api/auth/login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" y="2135124"/>
            <a:ext cx="4160520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>
                <a:solidFill>
                  <a:srgbClr val="A8B8C8"/>
                </a:solidFill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" y="2258568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4592" y="2258568"/>
            <a:ext cx="41148" cy="45720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" y="2258568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E8805A"/>
                </a:solidFill>
              </a:rPr>
              <a:t>BACKEND  </a:t>
            </a:r>
            <a:r>
              <a:rPr sz="900">
                <a:solidFill>
                  <a:srgbClr val="FFFFFF"/>
                </a:solidFill>
              </a:rPr>
              <a:t>Argon2 hash / verify password (security.py)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" y="2697480"/>
            <a:ext cx="4160520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>
                <a:solidFill>
                  <a:srgbClr val="A8B8C8"/>
                </a:solidFill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" y="2820924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64592" y="2820924"/>
            <a:ext cx="41148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2608" y="2820924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0B4D8"/>
                </a:solidFill>
              </a:rPr>
              <a:t>GOOGLE  </a:t>
            </a:r>
            <a:r>
              <a:rPr sz="900">
                <a:solidFill>
                  <a:srgbClr val="FFFFFF"/>
                </a:solidFill>
              </a:rPr>
              <a:t>OAuth 2.0 code exchange → verified email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" y="3259836"/>
            <a:ext cx="4160520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>
                <a:solidFill>
                  <a:srgbClr val="A8B8C8"/>
                </a:solidFill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" y="3383280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64592" y="3383280"/>
            <a:ext cx="41148" cy="45720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2608" y="338328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E8805A"/>
                </a:solidFill>
              </a:rPr>
              <a:t>BACKEND  </a:t>
            </a:r>
            <a:r>
              <a:rPr sz="900">
                <a:solidFill>
                  <a:srgbClr val="FFFFFF"/>
                </a:solidFill>
              </a:rPr>
              <a:t>Issues signed JWT (HS256), 7-day expiry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" y="3822192"/>
            <a:ext cx="4160520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>
                <a:solidFill>
                  <a:srgbClr val="A8B8C8"/>
                </a:solidFill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" y="3945636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64592" y="3945636"/>
            <a:ext cx="41148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2608" y="3945636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0B4D8"/>
                </a:solidFill>
              </a:rPr>
              <a:t>FRONTEND  </a:t>
            </a:r>
            <a:r>
              <a:rPr sz="900">
                <a:solidFill>
                  <a:srgbClr val="FFFFFF"/>
                </a:solidFill>
              </a:rPr>
              <a:t>Stores token, redirects to Job 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786384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8805A"/>
                </a:solidFill>
              </a:rPr>
              <a:t>Example Output — Live UI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26280" y="1133856"/>
            <a:ext cx="4434840" cy="33101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486976"/>
            <a:ext cx="4215383" cy="260388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526280" y="4498848"/>
            <a:ext cx="4434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>
                <a:solidFill>
                  <a:srgbClr val="A8B8C8"/>
                </a:solidFill>
              </a:rPr>
              <a:t>Login screen — local email/password + Google OAuth entry points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4592" y="5010912"/>
            <a:ext cx="1097280" cy="182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63840" y="493776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>
                <a:solidFill>
                  <a:srgbClr val="A8B8C8"/>
                </a:solidFill>
              </a:rPr>
              <a:t>ResuMatrix  ·  06/15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System Flow — Resume Upload &amp; Parsing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786384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② Unstructured Resume → Structured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133856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64592" y="1133856"/>
            <a:ext cx="41148" cy="45720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" y="1133856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E8805A"/>
                </a:solidFill>
              </a:rPr>
              <a:t>USER  </a:t>
            </a:r>
            <a:r>
              <a:rPr sz="900">
                <a:solidFill>
                  <a:srgbClr val="FFFFFF"/>
                </a:solidFill>
              </a:rPr>
              <a:t>Uploads resume — PDF or DOCX (up to 5 MB)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" y="1572768"/>
            <a:ext cx="4160520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>
                <a:solidFill>
                  <a:srgbClr val="A8B8C8"/>
                </a:solidFill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696212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4592" y="1696212"/>
            <a:ext cx="41148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8" y="1696212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0B4D8"/>
                </a:solidFill>
              </a:rPr>
              <a:t>BACKEND  </a:t>
            </a:r>
            <a:r>
              <a:rPr sz="900">
                <a:solidFill>
                  <a:srgbClr val="FFFFFF"/>
                </a:solidFill>
              </a:rPr>
              <a:t>POST /api/resume/upload extracts raw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" y="2135124"/>
            <a:ext cx="4160520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>
                <a:solidFill>
                  <a:srgbClr val="A8B8C8"/>
                </a:solidFill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" y="2258568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4592" y="2258568"/>
            <a:ext cx="41148" cy="45720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" y="2258568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E8805A"/>
                </a:solidFill>
              </a:rPr>
              <a:t>REGEX  </a:t>
            </a:r>
            <a:r>
              <a:rPr sz="900">
                <a:solidFill>
                  <a:srgbClr val="FFFFFF"/>
                </a:solidFill>
              </a:rPr>
              <a:t>Extracts email, phone, links, date ranges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" y="2697480"/>
            <a:ext cx="4160520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>
                <a:solidFill>
                  <a:srgbClr val="A8B8C8"/>
                </a:solidFill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" y="2820924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64592" y="2820924"/>
            <a:ext cx="41148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2608" y="2820924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0B4D8"/>
                </a:solidFill>
              </a:rPr>
              <a:t>SEGMENTER  </a:t>
            </a:r>
            <a:r>
              <a:rPr sz="900">
                <a:solidFill>
                  <a:srgbClr val="FFFFFF"/>
                </a:solidFill>
              </a:rPr>
              <a:t>Fuzzy match + TF-IDF/LogReg 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" y="3259836"/>
            <a:ext cx="4160520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>
                <a:solidFill>
                  <a:srgbClr val="A8B8C8"/>
                </a:solidFill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" y="3383280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64592" y="3383280"/>
            <a:ext cx="41148" cy="45720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2608" y="338328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E8805A"/>
                </a:solidFill>
              </a:rPr>
              <a:t>NER + GAZETTEER  </a:t>
            </a:r>
            <a:r>
              <a:rPr sz="900">
                <a:solidFill>
                  <a:srgbClr val="FFFFFF"/>
                </a:solidFill>
              </a:rPr>
              <a:t>Extracts entities &amp; canonical skills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" y="3822192"/>
            <a:ext cx="4160520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>
                <a:solidFill>
                  <a:srgbClr val="A8B8C8"/>
                </a:solidFill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" y="3945636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64592" y="3945636"/>
            <a:ext cx="41148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2608" y="3945636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0B4D8"/>
                </a:solidFill>
              </a:rPr>
              <a:t>BACKEND  </a:t>
            </a:r>
            <a:r>
              <a:rPr sz="900">
                <a:solidFill>
                  <a:srgbClr val="FFFFFF"/>
                </a:solidFill>
              </a:rPr>
              <a:t>Profile saved to PostgreSQL, shown to user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786384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8805A"/>
                </a:solidFill>
              </a:rPr>
              <a:t>Example Output — Live UI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26280" y="1133856"/>
            <a:ext cx="4434840" cy="33101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profile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668163"/>
            <a:ext cx="4215383" cy="224151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526280" y="4498848"/>
            <a:ext cx="4434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>
                <a:solidFill>
                  <a:srgbClr val="A8B8C8"/>
                </a:solidFill>
              </a:rPr>
              <a:t>Profile Setup — fields auto-populated from an uploaded resume (85% complete)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4592" y="5010912"/>
            <a:ext cx="1097280" cy="182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63840" y="493776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>
                <a:solidFill>
                  <a:srgbClr val="A8B8C8"/>
                </a:solidFill>
              </a:rPr>
              <a:t>ResuMatrix  ·  07/15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System Flow — Job Search &amp; Match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786384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③ Live Listings → Ranked, Scored Jobs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133856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64592" y="1133856"/>
            <a:ext cx="41148" cy="45720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" y="1133856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E8805A"/>
                </a:solidFill>
              </a:rPr>
              <a:t>USER  </a:t>
            </a:r>
            <a:r>
              <a:rPr sz="900">
                <a:solidFill>
                  <a:srgbClr val="FFFFFF"/>
                </a:solidFill>
              </a:rPr>
              <a:t>Searches jobs by title, location, filters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" y="1572768"/>
            <a:ext cx="4160520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>
                <a:solidFill>
                  <a:srgbClr val="A8B8C8"/>
                </a:solidFill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696212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4592" y="1696212"/>
            <a:ext cx="41148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8" y="1696212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0B4D8"/>
                </a:solidFill>
              </a:rPr>
              <a:t>BACKEND  </a:t>
            </a:r>
            <a:r>
              <a:rPr sz="900">
                <a:solidFill>
                  <a:srgbClr val="FFFFFF"/>
                </a:solidFill>
              </a:rPr>
              <a:t>GET /api/jobs/search → JSearch API (15-min cache)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" y="2135124"/>
            <a:ext cx="4160520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>
                <a:solidFill>
                  <a:srgbClr val="A8B8C8"/>
                </a:solidFill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" y="2258568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4592" y="2258568"/>
            <a:ext cx="41148" cy="45720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" y="2258568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E8805A"/>
                </a:solidFill>
              </a:rPr>
              <a:t>ATS SERVICE  </a:t>
            </a:r>
            <a:r>
              <a:rPr sz="900">
                <a:solidFill>
                  <a:srgbClr val="FFFFFF"/>
                </a:solidFill>
              </a:rPr>
              <a:t>TF-IDF cosine similarity (lexical match)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" y="2697480"/>
            <a:ext cx="4160520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>
                <a:solidFill>
                  <a:srgbClr val="A8B8C8"/>
                </a:solidFill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" y="2820924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64592" y="2820924"/>
            <a:ext cx="41148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2608" y="2820924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0B4D8"/>
                </a:solidFill>
              </a:rPr>
              <a:t>ATS SERVICE  </a:t>
            </a:r>
            <a:r>
              <a:rPr sz="900">
                <a:solidFill>
                  <a:srgbClr val="FFFFFF"/>
                </a:solidFill>
              </a:rPr>
              <a:t>Sentence-BERT cosine similarity (semantic match)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" y="3259836"/>
            <a:ext cx="4160520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>
                <a:solidFill>
                  <a:srgbClr val="A8B8C8"/>
                </a:solidFill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" y="3383280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64592" y="3383280"/>
            <a:ext cx="41148" cy="45720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2608" y="338328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E8805A"/>
                </a:solidFill>
              </a:rPr>
              <a:t>ATS SERVICE  </a:t>
            </a:r>
            <a:r>
              <a:rPr sz="900">
                <a:solidFill>
                  <a:srgbClr val="FFFFFF"/>
                </a:solidFill>
              </a:rPr>
              <a:t>Skill overlap + weighted blend → 1–10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" y="3822192"/>
            <a:ext cx="4160520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>
                <a:solidFill>
                  <a:srgbClr val="A8B8C8"/>
                </a:solidFill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" y="3945636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64592" y="3945636"/>
            <a:ext cx="41148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2608" y="3945636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0B4D8"/>
                </a:solidFill>
              </a:rPr>
              <a:t>FRONTEND  </a:t>
            </a:r>
            <a:r>
              <a:rPr sz="900">
                <a:solidFill>
                  <a:srgbClr val="FFFFFF"/>
                </a:solidFill>
              </a:rPr>
              <a:t>Ranked jobs shown with match-score badge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786384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8805A"/>
                </a:solidFill>
              </a:rPr>
              <a:t>Example Output — Live UI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26280" y="1133856"/>
            <a:ext cx="4434840" cy="33101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match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897204"/>
            <a:ext cx="4215383" cy="178343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526280" y="4498848"/>
            <a:ext cx="4434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>
                <a:solidFill>
                  <a:srgbClr val="A8B8C8"/>
                </a:solidFill>
              </a:rPr>
              <a:t>Match Analysis tab — 8/10 score: 80% skill match, 60% keyword, 70% semantic similarity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4592" y="5010912"/>
            <a:ext cx="1097280" cy="182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63840" y="493776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>
                <a:solidFill>
                  <a:srgbClr val="A8B8C8"/>
                </a:solidFill>
              </a:rPr>
              <a:t>ResuMatrix  ·  08/15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System Flow — Resume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786384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④ Job-Targeted, Non-Fabricated Edit Suggestions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133856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64592" y="1133856"/>
            <a:ext cx="41148" cy="45720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" y="1133856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E8805A"/>
                </a:solidFill>
              </a:rPr>
              <a:t>USER  </a:t>
            </a:r>
            <a:r>
              <a:rPr sz="900">
                <a:solidFill>
                  <a:srgbClr val="FFFFFF"/>
                </a:solidFill>
              </a:rPr>
              <a:t>Clicks Optimize Resume for a specific job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" y="1572768"/>
            <a:ext cx="4160520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>
                <a:solidFill>
                  <a:srgbClr val="A8B8C8"/>
                </a:solidFill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696212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4592" y="1696212"/>
            <a:ext cx="41148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8" y="1696212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0B4D8"/>
                </a:solidFill>
              </a:rPr>
              <a:t>BACKEND  </a:t>
            </a:r>
            <a:r>
              <a:rPr sz="900">
                <a:solidFill>
                  <a:srgbClr val="FFFFFF"/>
                </a:solidFill>
              </a:rPr>
              <a:t>POST /api/jobs/optimize-resume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" y="2135124"/>
            <a:ext cx="4160520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>
                <a:solidFill>
                  <a:srgbClr val="A8B8C8"/>
                </a:solidFill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" y="2258568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4592" y="2258568"/>
            <a:ext cx="41148" cy="45720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" y="2258568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E8805A"/>
                </a:solidFill>
              </a:rPr>
              <a:t>OPTIMIZER  </a:t>
            </a:r>
            <a:r>
              <a:rPr sz="900">
                <a:solidFill>
                  <a:srgbClr val="FFFFFF"/>
                </a:solidFill>
              </a:rPr>
              <a:t>Embeds bullets — places missing skills by best 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" y="2697480"/>
            <a:ext cx="4160520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>
                <a:solidFill>
                  <a:srgbClr val="A8B8C8"/>
                </a:solidFill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" y="2820924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64592" y="2820924"/>
            <a:ext cx="41148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2608" y="2820924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0B4D8"/>
                </a:solidFill>
              </a:rPr>
              <a:t>OPTIMIZER  </a:t>
            </a:r>
            <a:r>
              <a:rPr sz="900">
                <a:solidFill>
                  <a:srgbClr val="FFFFFF"/>
                </a:solidFill>
              </a:rPr>
              <a:t>Ranks missing skills by term frequency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" y="3259836"/>
            <a:ext cx="4160520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>
                <a:solidFill>
                  <a:srgbClr val="A8B8C8"/>
                </a:solidFill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" y="3383280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64592" y="3383280"/>
            <a:ext cx="41148" cy="45720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2608" y="338328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E8805A"/>
                </a:solidFill>
              </a:rPr>
              <a:t>OPTIMIZER  </a:t>
            </a:r>
            <a:r>
              <a:rPr sz="900">
                <a:solidFill>
                  <a:srgbClr val="FFFFFF"/>
                </a:solidFill>
              </a:rPr>
              <a:t>Flags un-quantified bullets (regex digit check)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" y="3822192"/>
            <a:ext cx="4160520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>
                <a:solidFill>
                  <a:srgbClr val="A8B8C8"/>
                </a:solidFill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" y="3945636"/>
            <a:ext cx="4160520" cy="457200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64592" y="3945636"/>
            <a:ext cx="41148" cy="4572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2608" y="3945636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0B4D8"/>
                </a:solidFill>
              </a:rPr>
              <a:t>BACKEND  </a:t>
            </a:r>
            <a:r>
              <a:rPr sz="900">
                <a:solidFill>
                  <a:srgbClr val="FFFFFF"/>
                </a:solidFill>
              </a:rPr>
              <a:t>Rescores before → after, returns optimized PDF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786384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8805A"/>
                </a:solidFill>
              </a:rPr>
              <a:t>Example Output — Live UI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26280" y="1133856"/>
            <a:ext cx="4434840" cy="33101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job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2355483"/>
            <a:ext cx="4215383" cy="86687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526280" y="4498848"/>
            <a:ext cx="4434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>
                <a:solidFill>
                  <a:srgbClr val="A8B8C8"/>
                </a:solidFill>
              </a:rPr>
              <a:t>Job Board suggestions panel — projected score lift 6/10 → 8/10 if suggestions are applied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4592" y="5010912"/>
            <a:ext cx="1097280" cy="182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63840" y="493776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>
                <a:solidFill>
                  <a:srgbClr val="A8B8C8"/>
                </a:solidFill>
              </a:rPr>
              <a:t>ResuMatrix  ·  09/15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System Architecture &amp;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822960"/>
            <a:ext cx="4096512" cy="3840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" y="822960"/>
            <a:ext cx="40965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</a:rPr>
              <a:t>CLIENT SIDE (React 19 + TypeScript SPA)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1298448"/>
            <a:ext cx="40965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6032" y="1298448"/>
            <a:ext cx="1097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8805A"/>
                </a:solidFill>
              </a:rPr>
              <a:t>Pages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298448"/>
            <a:ext cx="279806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React Router v7 — public Landing/Login/Register; Dashboard/JobBoard/ProfileSetup behind ProtectedRoute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993391"/>
            <a:ext cx="40965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6032" y="1993391"/>
            <a:ext cx="1097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8805A"/>
                </a:solidFill>
              </a:rPr>
              <a:t>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1993391"/>
            <a:ext cx="279806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TanStack Query (server-state cache) + Zustand (auth identity store)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" y="2688335"/>
            <a:ext cx="40965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6032" y="2688335"/>
            <a:ext cx="1097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8805A"/>
                </a:solidFill>
              </a:rPr>
              <a:t>API Client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688335"/>
            <a:ext cx="279806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axios instance — JWT-attaching request interceptor; 401 auto-redirect to Login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" y="3383279"/>
            <a:ext cx="40965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6032" y="3383279"/>
            <a:ext cx="1097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8805A"/>
                </a:solidFill>
              </a:rPr>
              <a:t>ProfileSetup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3383279"/>
            <a:ext cx="279806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Gap-filling form — resume-locked fields disabled; location/experience required via Zod + RHF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" y="4078223"/>
            <a:ext cx="40965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6032" y="4078223"/>
            <a:ext cx="1097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8805A"/>
                </a:solidFill>
              </a:rPr>
              <a:t>JobBoard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4078223"/>
            <a:ext cx="279806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Job cards with match-score badge; JobDetailModal lazily fetches ATS analysis on open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5968" y="2194560"/>
            <a:ext cx="51206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>
                <a:solidFill>
                  <a:srgbClr val="00B4D8"/>
                </a:solidFill>
              </a:rPr>
              <a:t>HTTPS</a:t>
            </a:r>
          </a:p>
          <a:p>
            <a:pPr algn="ctr"/>
            <a:r>
              <a:rPr sz="800">
                <a:solidFill>
                  <a:srgbClr val="00B4D8"/>
                </a:solidFill>
              </a:rPr>
              <a:t>▶▶</a:t>
            </a:r>
          </a:p>
          <a:p>
            <a:pPr algn="ctr"/>
            <a:r>
              <a:rPr sz="800">
                <a:solidFill>
                  <a:srgbClr val="00B4D8"/>
                </a:solidFill>
              </a:rPr>
              <a:t>REST API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82896" y="822960"/>
            <a:ext cx="4096512" cy="3840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82896" y="822960"/>
            <a:ext cx="40965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</a:rPr>
              <a:t>BACKEND SERVER (FastAPI)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82896" y="1298448"/>
            <a:ext cx="40965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74336" y="1298448"/>
            <a:ext cx="13716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FastAPI Gateway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1298448"/>
            <a:ext cx="252374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7 routers under /api — auth, google, profile, resume, jobs, applications, alerts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82896" y="1993391"/>
            <a:ext cx="40965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74336" y="1993391"/>
            <a:ext cx="13716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ML Resume Parser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1993391"/>
            <a:ext cx="252374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Regex + fuzzy/TF-IDF segmenter + NER + gazetteer, run via run_in_threadpool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82896" y="2688335"/>
            <a:ext cx="40965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74336" y="2688335"/>
            <a:ext cx="13716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ATS Scoring Service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2688335"/>
            <a:ext cx="252374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TF-IDF + sentence embeddings + skill overlap → blended 1–10 score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82896" y="3383279"/>
            <a:ext cx="40965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74336" y="3383279"/>
            <a:ext cx="13716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Resume Optimizer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3383279"/>
            <a:ext cx="252374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Reuses ATS scoring; bullet-injection + missing-skill + quantification-gap detection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82896" y="4078223"/>
            <a:ext cx="4096512" cy="62179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974336" y="4078223"/>
            <a:ext cx="13716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job_service.py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4078223"/>
            <a:ext cx="252374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JSearch API wrapper behind a 15-minute in-memory cache keyed on query params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4592" y="5010912"/>
            <a:ext cx="1097280" cy="182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863840" y="493776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>
                <a:solidFill>
                  <a:srgbClr val="A8B8C8"/>
                </a:solidFill>
              </a:rPr>
              <a:t>ResuMatrix  ·  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822960"/>
            <a:ext cx="2084831" cy="3840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" y="822960"/>
            <a:ext cx="208483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1298448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64592" y="1298448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" y="1298448"/>
            <a:ext cx="190195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React 19.2 + TypeScript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2194560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4592" y="2194560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8" y="2194560"/>
            <a:ext cx="190195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Vite 8 — build 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" y="3090672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4592" y="3090672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2608" y="3090672"/>
            <a:ext cx="190195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Tailwind CSS v4 + shadcn/ui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" y="3986783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64592" y="3986783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2608" y="3986783"/>
            <a:ext cx="190195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TanStack Query v5 + Zustand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822960"/>
            <a:ext cx="2084831" cy="3840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377440" y="822960"/>
            <a:ext cx="208483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Backend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1298448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377440" y="1298448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05456" y="1298448"/>
            <a:ext cx="190195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Python 3.13 — FastAPI 0.136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2194560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377440" y="2194560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05456" y="2194560"/>
            <a:ext cx="190195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Uvicorn ASGI server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0" y="3090672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377440" y="3090672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505456" y="3090672"/>
            <a:ext cx="190195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Pydantic — validation &amp; settings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3986783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377440" y="3986783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05456" y="3986783"/>
            <a:ext cx="190195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90288" y="822960"/>
            <a:ext cx="2084831" cy="3840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90288" y="822960"/>
            <a:ext cx="208483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AI / NLP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90288" y="1298448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90288" y="1298448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18303" y="1298448"/>
            <a:ext cx="190195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spaCy 3.8 (en_core_web_sm)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90288" y="2194560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590288" y="2194560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718303" y="2194560"/>
            <a:ext cx="190195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scikit-learn 1.5 (TF-IDF, LogReg)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90288" y="3090672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590288" y="3090672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18303" y="3090672"/>
            <a:ext cx="190195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transformers + torch (NER model)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90288" y="3986783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590288" y="3986783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718303" y="3986783"/>
            <a:ext cx="190195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Sentence embeddings (MiniLM-L6-v2)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03136" y="822960"/>
            <a:ext cx="2084831" cy="3840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803136" y="822960"/>
            <a:ext cx="208483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Dev &amp; Deployment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03136" y="1298448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803136" y="1298448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931152" y="1298448"/>
            <a:ext cx="190195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Git &amp; GitHub — version control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03136" y="2194560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803136" y="2194560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931152" y="2194560"/>
            <a:ext cx="190195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Environment-based config (.env)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03136" y="3090672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803136" y="3090672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931152" y="3090672"/>
            <a:ext cx="190195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pwdlib (Argon2) + python-jose (JWT)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03136" y="3986783"/>
            <a:ext cx="2084831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803136" y="3986783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931152" y="3986783"/>
            <a:ext cx="190195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Authlib — Google OAuth 2.0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4592" y="5010912"/>
            <a:ext cx="1097280" cy="182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863840" y="493776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>
                <a:solidFill>
                  <a:srgbClr val="A8B8C8"/>
                </a:solidFill>
              </a:rPr>
              <a:t>ResuMatrix  ·  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822960"/>
            <a:ext cx="4096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E8805A"/>
                </a:solidFill>
              </a:rPr>
              <a:t>Frontend Modules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188720"/>
            <a:ext cx="4096512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64592" y="1188720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" y="1225296"/>
            <a:ext cx="389534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E8805A"/>
                </a:solidFill>
              </a:rPr>
              <a:t>ProtectedRoute.tsx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1499616"/>
            <a:ext cx="38953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Checks for a stored JWT; redirects unauthenticated users to Login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2084832"/>
            <a:ext cx="4096512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4592" y="2084832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8" y="2121408"/>
            <a:ext cx="389534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E8805A"/>
                </a:solidFill>
              </a:rPr>
              <a:t>services/api.ts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2395728"/>
            <a:ext cx="38953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Axios interceptors: attach Bearer JWT; clear token + redirect on 401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" y="2980944"/>
            <a:ext cx="4096512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4592" y="2980944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" y="3017520"/>
            <a:ext cx="389534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E8805A"/>
                </a:solidFill>
              </a:rPr>
              <a:t>ProfileSetup.tsx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" y="3291840"/>
            <a:ext cx="38953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Gap-filling flow — resume-locked fields disabled, required fields via Zod + RHF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" y="3877056"/>
            <a:ext cx="4096512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64592" y="3877056"/>
            <a:ext cx="54864" cy="804672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2608" y="3913632"/>
            <a:ext cx="389534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E8805A"/>
                </a:solidFill>
              </a:rPr>
              <a:t>JobBoard / JobDetailModal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" y="4187952"/>
            <a:ext cx="38953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Job cards with match badge; modal lazily fetches ATS analysis on open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82896" y="822960"/>
            <a:ext cx="4096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Backend Modules (FastAPI)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82896" y="1188720"/>
            <a:ext cx="4096512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882896" y="1188720"/>
            <a:ext cx="54864" cy="80467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10912" y="1225296"/>
            <a:ext cx="389534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main.py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10912" y="1499616"/>
            <a:ext cx="38953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Mounts 7 routers under /api; CORS scoped to frontend origin; creates schema on startup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82896" y="2084832"/>
            <a:ext cx="4096512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882896" y="2084832"/>
            <a:ext cx="54864" cy="80467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10912" y="2121408"/>
            <a:ext cx="389534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ml_resume_parser/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0912" y="2395728"/>
            <a:ext cx="38953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Regex → fuzzy/TF-IDF segmenter → NER → gazetteer, dispatched via run_in_threadpool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82896" y="2980944"/>
            <a:ext cx="4096512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882896" y="2980944"/>
            <a:ext cx="54864" cy="80467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10912" y="3017520"/>
            <a:ext cx="389534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ats_service.py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10912" y="3291840"/>
            <a:ext cx="38953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Blended TF-IDF + semantic + skill-overlap scoring, shared by optimizer service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82896" y="3877056"/>
            <a:ext cx="4096512" cy="804672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882896" y="3877056"/>
            <a:ext cx="54864" cy="80467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10912" y="3913632"/>
            <a:ext cx="389534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job_service.py / pdf_service.py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10912" y="4187952"/>
            <a:ext cx="38953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JSearch cache (15-min TTL) + ReportLab-rendered optimized resume PDF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4592" y="5010912"/>
            <a:ext cx="1097280" cy="182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63840" y="493776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>
                <a:solidFill>
                  <a:srgbClr val="A8B8C8"/>
                </a:solidFill>
              </a:rPr>
              <a:t>ResuMatrix  ·  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Testing &amp;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822960"/>
            <a:ext cx="2834640" cy="3840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" y="8229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Unit Testing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1207008"/>
            <a:ext cx="2834640" cy="292608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6032" y="120700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E8805A"/>
                </a:solidFill>
              </a:rPr>
              <a:t>✓ 14 test cases — all PASS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822960"/>
            <a:ext cx="2834640" cy="3840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54680" y="8229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Integration Testing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207008"/>
            <a:ext cx="2834640" cy="292608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46120" y="120700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0B4D8"/>
                </a:solidFill>
              </a:rPr>
              <a:t>✓ 10 test cases — all PASS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4768" y="822960"/>
            <a:ext cx="2834640" cy="3840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44768" y="8229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System Testing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4768" y="1207008"/>
            <a:ext cx="2834640" cy="292608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36207" y="120700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E8805A"/>
                </a:solidFill>
              </a:rPr>
              <a:t>✓ End-to-end — all PASS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" y="1591056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6032" y="1591056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Regex extraction (email, phone, dates)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" y="2066543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6032" y="2066543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Section header detection + LogReg fallback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" y="2542032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56032" y="2542032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NER — person name extraction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2" y="3017520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6032" y="3017520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Gazetteer skill categorization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" y="3493008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6032" y="3493008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Experience entry splitting by date 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" y="3968496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56032" y="3968496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ATS blend score upper/lower bounds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2" y="4443983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56032" y="4443983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Quantification-gap detection (regex)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54680" y="1591056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46120" y="1591056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Register → login returns JWT + Profile row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54680" y="2066543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46120" y="2066543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Resume upload → profile fields populated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54680" y="2542032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46120" y="2542032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Job search returns sorted match scores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54680" y="3017520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46120" y="3017520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ATS analysis → matched/missing skills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54680" y="3493008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46120" y="3493008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Optimize resume → download updated PDF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54680" y="3968496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46120" y="3968496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Repeat search within 15 min → served from cache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54680" y="4443983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246120" y="4443983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Google OAuth callback issues valid JWT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44768" y="1591056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36207" y="1591056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Varying resume formats (headers, layouts)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44768" y="2066543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36207" y="2066543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Common vs. narrow/location job queries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44768" y="2542032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6207" y="2542032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Score direction verified as skills change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44768" y="3017520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236207" y="3017520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Boundary: empty upload, 5MB limit, 0 skills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44768" y="3493008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36207" y="3493008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Error handling: JSearch failure, bad JWT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44768" y="3968496"/>
            <a:ext cx="2834640" cy="4206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236207" y="3968496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✓ Cross-browser manual verification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4592" y="4919472"/>
            <a:ext cx="881481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2ECC71"/>
                </a:solidFill>
              </a:rPr>
              <a:t>All stated objectives met — parsing, scoring, optimization, auth &amp; PDF export verified end-to-end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Conclusion &amp; Future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822960"/>
            <a:ext cx="4315968" cy="3840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" y="822960"/>
            <a:ext cx="43159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✓ Project Achievements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1298448"/>
            <a:ext cx="4315968" cy="6492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64592" y="1298448"/>
            <a:ext cx="54864" cy="64922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" y="1344168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Resume Parsing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1591056"/>
            <a:ext cx="4114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Regex + fuzzy/TF-IDF segmenter + NER + gazetteer extract structured profiles reliably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" y="2020824"/>
            <a:ext cx="4315968" cy="6492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4592" y="2020824"/>
            <a:ext cx="54864" cy="64922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2608" y="2066543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Blended Match Scoring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2313432"/>
            <a:ext cx="4114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TF-IDF + sentence embeddings + skill overlap → interpretable 1–10 score, monotonic with overlap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" y="2743200"/>
            <a:ext cx="4315968" cy="6492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64592" y="2743200"/>
            <a:ext cx="54864" cy="64922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2608" y="278892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Resume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3035808"/>
            <a:ext cx="4114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Job-targeted suggestions placed via semantic similarity, never fabricating claims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" y="3465576"/>
            <a:ext cx="4315968" cy="6492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64592" y="3465576"/>
            <a:ext cx="54864" cy="64922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2608" y="3511296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Dual-Mode Authentication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" y="3758184"/>
            <a:ext cx="4114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Argon2 + JWT local auth and Google OAuth 2.0 converge on one session mechanism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2" y="4187952"/>
            <a:ext cx="4315968" cy="649224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64592" y="4187952"/>
            <a:ext cx="54864" cy="64922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2608" y="4233672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Externalized Configuration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" y="4480560"/>
            <a:ext cx="4114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FFFFFF"/>
                </a:solidFill>
              </a:rPr>
              <a:t>All secrets, DB and API keys read from environment variables — no hard-coded credentials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822960"/>
            <a:ext cx="4315968" cy="384048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63440" y="822960"/>
            <a:ext cx="43159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🚀 Future Recommendations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1298448"/>
            <a:ext cx="4315968" cy="516635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663440" y="1298448"/>
            <a:ext cx="54864" cy="516635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91456" y="1344168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8805A"/>
                </a:solidFill>
              </a:rPr>
              <a:t>Automated Test Suite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91456" y="1563624"/>
            <a:ext cx="41148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pytest-based suite wired into CI to replace manual testing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1888236"/>
            <a:ext cx="4315968" cy="516635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663440" y="1888236"/>
            <a:ext cx="54864" cy="516635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91456" y="1933955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8805A"/>
                </a:solidFill>
              </a:rPr>
              <a:t>Job Alerts Frontend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91456" y="2153412"/>
            <a:ext cx="41148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Expose the complete /api/alerts backend through a dedicated UI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3440" y="2478024"/>
            <a:ext cx="4315968" cy="516635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663440" y="2478024"/>
            <a:ext cx="54864" cy="516635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791456" y="2523744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8805A"/>
                </a:solidFill>
              </a:rPr>
              <a:t>OCR for Scanned Resumes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91456" y="2743200"/>
            <a:ext cx="41148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Tesseract fallback for image-only PDF uploads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63440" y="3067812"/>
            <a:ext cx="4315968" cy="516635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663440" y="3067812"/>
            <a:ext cx="54864" cy="516635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91456" y="3113532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8805A"/>
                </a:solidFill>
              </a:rPr>
              <a:t>Fine-Tuned NER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91456" y="3332988"/>
            <a:ext cx="41148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Domain fine-tuning to reduce organization-tag false positives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63440" y="3657600"/>
            <a:ext cx="4315968" cy="516635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663440" y="3657600"/>
            <a:ext cx="54864" cy="516635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791456" y="370332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8805A"/>
                </a:solidFill>
              </a:rPr>
              <a:t>Learned Score Weights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91456" y="3922776"/>
            <a:ext cx="41148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Replace fixed 0.5/0.25/0.25 blend with weights learned from labeled data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63440" y="4247388"/>
            <a:ext cx="4315968" cy="516635"/>
          </a:xfrm>
          <a:prstGeom prst="rect">
            <a:avLst/>
          </a:prstGeom>
          <a:solidFill>
            <a:srgbClr val="16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663440" y="4247388"/>
            <a:ext cx="54864" cy="516635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791456" y="4293107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8805A"/>
                </a:solidFill>
              </a:rPr>
              <a:t>Employer-Facing Features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91456" y="4512564"/>
            <a:ext cx="41148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</a:rPr>
              <a:t>An employer portal for posting jobs directly is a natural extension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4592" y="5010912"/>
            <a:ext cx="1097280" cy="182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863840" y="493776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>
                <a:solidFill>
                  <a:srgbClr val="A8B8C8"/>
                </a:solidFill>
              </a:rPr>
              <a:t>ResuMatrix  ·  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56032"/>
            <a:ext cx="1005840" cy="91440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</a:rPr>
              <a:t>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54864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14884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>
                <a:solidFill>
                  <a:srgbClr val="00B4D8"/>
                </a:solidFill>
              </a:rPr>
              <a:t>ResuMatrix — Turning One Resume Upload Into a Live-Scored Job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651760"/>
            <a:ext cx="50292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2834640"/>
            <a:ext cx="53035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>
                <a:solidFill>
                  <a:srgbClr val="A8B8C8"/>
                </a:solidFill>
              </a:rPr>
              <a:t>Open for 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337560"/>
            <a:ext cx="53035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Alex Phuyal (79010151)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Abishek Khadka (79010149)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Biraj Sapkota (79010173)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A8B8C8"/>
                </a:solidFill>
              </a:rPr>
              <a:t>Supervisor: Er. Akkal Bist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64592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20840" y="164592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269480" y="164592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18120" y="164592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66760" y="164592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69680" y="164592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68580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720840" y="68580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69480" y="68580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818120" y="68580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366760" y="68580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869680" y="68580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72200" y="123444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720840" y="123444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72200" y="17830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720840" y="17830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69480" y="17830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818120" y="17830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72200" y="38404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720840" y="38404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818120" y="38404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366760" y="38404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869680" y="384048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72200" y="438912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720840" y="438912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269480" y="438912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818120" y="438912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366760" y="438912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869680" y="4389120"/>
            <a:ext cx="164592" cy="164592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35040" y="164592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Amrit College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Tribhuvan University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2377440"/>
            <a:ext cx="2103120" cy="64008"/>
          </a:xfrm>
          <a:prstGeom prst="rect">
            <a:avLst/>
          </a:prstGeom>
          <a:solidFill>
            <a:srgbClr val="E8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035040" y="2514600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>
                <a:solidFill>
                  <a:srgbClr val="A8B8C8"/>
                </a:solidFill>
              </a:rPr>
              <a:t>Supervisor:</a:t>
            </a:r>
          </a:p>
          <a:p>
            <a:pPr algn="ctr"/>
            <a:r>
              <a:rPr sz="1200">
                <a:solidFill>
                  <a:srgbClr val="A8B8C8"/>
                </a:solidFill>
              </a:rPr>
              <a:t>Er. Akkal Bist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321868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>
                <a:solidFill>
                  <a:srgbClr val="A8B8C8"/>
                </a:solidFill>
              </a:rPr>
              <a:t>B.Sc. CSIT | July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365760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>
                <a:solidFill>
                  <a:srgbClr val="00B4D8"/>
                </a:solidFill>
              </a:rPr>
              <a:t>github.com/Abishek-khadka01/</a:t>
            </a:r>
          </a:p>
          <a:p>
            <a:pPr algn="ctr"/>
            <a:r>
              <a:rPr sz="1000">
                <a:solidFill>
                  <a:srgbClr val="00B4D8"/>
                </a:solidFill>
              </a:rPr>
              <a:t>resume-parser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1724</Words>
  <Application>Microsoft Office PowerPoint</Application>
  <PresentationFormat>On-screen Show (16:9)</PresentationFormat>
  <Paragraphs>273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Monika Phuyal</cp:lastModifiedBy>
  <cp:revision>2</cp:revision>
  <dcterms:created xsi:type="dcterms:W3CDTF">2013-01-27T09:14:16Z</dcterms:created>
  <dcterms:modified xsi:type="dcterms:W3CDTF">2026-07-04T15:50:54Z</dcterms:modified>
  <cp:category/>
</cp:coreProperties>
</file>