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56032"/>
            <a:ext cx="1005840" cy="914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17320"/>
            <a:ext cx="5486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ResuMatrix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21408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</a:rPr>
              <a:t>AI-Powered Resume Analysis &amp; Job Matching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798064"/>
            <a:ext cx="50292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94436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A8B8C8"/>
                </a:solidFill>
              </a:rPr>
              <a:t>Amrit College, Tribhuvan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29184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Alex Phuyal (79010151) • Abishek Khadka (79010149) • Biraj Sapkota (79010173)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Supervisor: Er. Akkal Bist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2084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694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6676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96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2084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694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6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2084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2084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948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1812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72084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1812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6676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86968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72084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694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81812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6676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696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35040" y="19202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B.Sc. CSIT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237744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>
                <a:solidFill>
                  <a:srgbClr val="A8B8C8"/>
                </a:solidFill>
              </a:rPr>
              <a:t>Final Year Project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798064"/>
            <a:ext cx="2103120" cy="640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35040" y="2944368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Final Defense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749039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>
                <a:solidFill>
                  <a:srgbClr val="A8B8C8"/>
                </a:solidFill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Presentation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96112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" y="896112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" y="896112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96112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Introduction &amp; Problem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920240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4592" y="1920240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" y="192024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944368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4592" y="2944368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" y="2944368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44368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3968496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4592" y="3968496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592" y="3968496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68496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System Flows — Auth, Parsing, Scoring &amp; Optimization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896112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81728" y="896112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896112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896112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System Architecture &amp;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8" y="1920240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81728" y="1920240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1728" y="192024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1536" y="19202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1728" y="2944368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81728" y="2944368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81728" y="2944368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1536" y="2944368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Implementation &amp; 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1728" y="3968496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81728" y="3968496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81728" y="3968496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1536" y="3968496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Conclusion &amp; Future Recommendations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Introduction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41248"/>
            <a:ext cx="2834640" cy="10515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84124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0D1B2A"/>
                </a:solidFill>
              </a:rPr>
              <a:t>100s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316736"/>
            <a:ext cx="2834640" cy="5760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316736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of listings scanned manually per search, most irrelevant to the candidate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841248"/>
            <a:ext cx="2834640" cy="10515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84124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0D1B2A"/>
                </a:solidFill>
              </a:rPr>
              <a:t>Zero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316736"/>
            <a:ext cx="2834640" cy="5760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316736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objective personalized fit signal offered by today's job boards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841248"/>
            <a:ext cx="2834640" cy="10515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84124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0D1B2A"/>
                </a:solidFill>
              </a:rPr>
              <a:t>Manual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316736"/>
            <a:ext cx="2834640" cy="5760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7" y="1316736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resume tailoring per posting — slow, inconsistent, often skipped entirely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0574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Problem Statement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487168"/>
            <a:ext cx="320040" cy="3200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592" y="248716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450592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Job seekers must manually cross-reference every listing against their own resume — slow, inconsistent, and easy to get wrong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3108960"/>
            <a:ext cx="320040" cy="3200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592" y="3108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072384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Existing job boards surface listings but compute no personalized fit signal; resume tools improve writing but never compare against a specific job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3730752"/>
            <a:ext cx="320040" cy="3200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4592" y="373075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694176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No single tool closes the loop: parse the resume once, then use it to both rank incoming listings and generate job-specific edit suggestions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4389120"/>
            <a:ext cx="8814816" cy="5669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4389120"/>
            <a:ext cx="863193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💡 Solution: ResuMatrix — parse a resume once, then use it to score, rank &amp; optimize applications against live job listings, end-to-end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96112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" y="896112"/>
            <a:ext cx="4315968" cy="7315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1" y="9875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📄 Resume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1" y="1389888"/>
            <a:ext cx="404164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Extract contact info, skills, experience &amp; education from PDF/DOCX via regex + fuzzy/TF-IDF segmenter + BERT NER + gazetteer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1728" y="896112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81728" y="896112"/>
            <a:ext cx="4315968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18888" y="9875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🎯 Job Match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389888"/>
            <a:ext cx="404164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Blend lexical (TF-IDF), semantic (sentence embeddings) &amp; skill-overlap signals into a single 1–10 match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286000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4592" y="2286000"/>
            <a:ext cx="4315968" cy="7315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1" y="237744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✍️ Resume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1" y="2779776"/>
            <a:ext cx="404164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Suggest job-targeted skill &amp; bullet edits from the same scoring signals — never fabricating a claim the user didn't make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1728" y="2286000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81728" y="2286000"/>
            <a:ext cx="4315968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18888" y="237744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🔐 Secure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2779776"/>
            <a:ext cx="404164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Local email/password (Argon2 + JWT) and Google OAuth 2.0 sign-in converge on one session mechanism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3675887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4592" y="3675887"/>
            <a:ext cx="4315968" cy="7315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1" y="3767327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📋 Application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1" y="4169663"/>
            <a:ext cx="404164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Track saved jobs through Saved → Applied → Interview → Offer / Rejected stages with timestamps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8" y="3675887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81728" y="3675887"/>
            <a:ext cx="4315968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18888" y="3767327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📑 Optimized PDF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4169663"/>
            <a:ext cx="404164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Downloadable, ATS-formatted resume PDF tailored to a specific job, generated server-side with ReportLab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96112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" y="896112"/>
            <a:ext cx="54864" cy="7498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95097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BERT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984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Devlin et al., 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005840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Pretrained bidirectional transformer for language understanding — foundation of the NER model used for name / organization / location extraction.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737360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173736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79222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Sentence-BERT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1396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Reimers &amp; Gurevych,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847088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Siamese BERT sentence embeddings for semantic similarity — basis of the semantic-match signal in job scoring.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578608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92" y="2578608"/>
            <a:ext cx="54864" cy="7498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263347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TF-IDF Term Weighting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9809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Salton &amp; Buckley, 1988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688336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Classical term-weighting for text retrieval — used for lexical resume-job similarity and section classification.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3419856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3419856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347472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spaCy / Industrial 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8221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Honnibal &amp; Montani, 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529584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Industrial-strength NLP with Bloom embeddings — powers the gazetteer-based skill / title / degree matcher.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Flow —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78638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① Registration, Login &amp; Google OAuth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3385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33856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13385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USER  </a:t>
            </a:r>
            <a:r>
              <a:rPr sz="900">
                <a:solidFill>
                  <a:srgbClr val="FFFFFF"/>
                </a:solidFill>
              </a:rPr>
              <a:t>Submits email/password, or clicks Google Sign-In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72768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696212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1696212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69621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FRONTEND  </a:t>
            </a:r>
            <a:r>
              <a:rPr sz="900">
                <a:solidFill>
                  <a:srgbClr val="FFFFFF"/>
                </a:solidFill>
              </a:rPr>
              <a:t>POST /api/auth/register or /api/auth/login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135124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258568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258568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2585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Argon2 hash / verify password (security.py)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697480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820924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2820924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282092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GOOGLE  </a:t>
            </a:r>
            <a:r>
              <a:rPr sz="900">
                <a:solidFill>
                  <a:srgbClr val="FFFFFF"/>
                </a:solidFill>
              </a:rPr>
              <a:t>OAuth 2.0 code exchange → verified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3259836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383280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4592" y="3383280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33832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Issues signed JWT (HS256), 7-day expiry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3822192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394563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592" y="3945636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394563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FRONTEND  </a:t>
            </a:r>
            <a:r>
              <a:rPr sz="900">
                <a:solidFill>
                  <a:srgbClr val="FFFFFF"/>
                </a:solidFill>
              </a:rPr>
              <a:t>Stores token, redirects to Job 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786384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Example Output — Live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1133856"/>
            <a:ext cx="4434840" cy="33101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486976"/>
            <a:ext cx="4215383" cy="260388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80" y="4498848"/>
            <a:ext cx="4434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>
                <a:solidFill>
                  <a:srgbClr val="A8B8C8"/>
                </a:solidFill>
              </a:rPr>
              <a:t>Login screen — local email/password + Google OAuth entry points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Flow — Resume Upload &amp;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78638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② Unstructured Resume → Structured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3385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33856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13385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USER  </a:t>
            </a:r>
            <a:r>
              <a:rPr sz="900">
                <a:solidFill>
                  <a:srgbClr val="FFFFFF"/>
                </a:solidFill>
              </a:rPr>
              <a:t>Uploads resume — PDF or DOCX (up to 5 MB)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72768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696212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1696212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69621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POST /api/resume/upload extracts raw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135124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258568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258568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2585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REGEX  </a:t>
            </a:r>
            <a:r>
              <a:rPr sz="900">
                <a:solidFill>
                  <a:srgbClr val="FFFFFF"/>
                </a:solidFill>
              </a:rPr>
              <a:t>Extracts email, phone, links, date ranges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697480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820924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2820924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282092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SEGMENTER  </a:t>
            </a:r>
            <a:r>
              <a:rPr sz="900">
                <a:solidFill>
                  <a:srgbClr val="FFFFFF"/>
                </a:solidFill>
              </a:rPr>
              <a:t>Fuzzy match + TF-IDF/LogReg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3259836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383280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4592" y="3383280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33832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BERT + GAZETTEER  </a:t>
            </a:r>
            <a:r>
              <a:rPr sz="900">
                <a:solidFill>
                  <a:srgbClr val="FFFFFF"/>
                </a:solidFill>
              </a:rPr>
              <a:t>Extracts entities &amp; canonical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3822192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394563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592" y="3945636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394563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Profile saved to PostgreSQL, shown to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786384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Example Output — Live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1133856"/>
            <a:ext cx="4434840" cy="33101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profile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668163"/>
            <a:ext cx="4215383" cy="224151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80" y="4498848"/>
            <a:ext cx="4434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>
                <a:solidFill>
                  <a:srgbClr val="A8B8C8"/>
                </a:solidFill>
              </a:rPr>
              <a:t>Profile Setup — fields auto-populated from an uploaded resume (85% complete)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Flow — Job Search &amp; Match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78638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③ Live Listings → Ranked, Scored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3385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33856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13385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USER  </a:t>
            </a:r>
            <a:r>
              <a:rPr sz="900">
                <a:solidFill>
                  <a:srgbClr val="FFFFFF"/>
                </a:solidFill>
              </a:rPr>
              <a:t>Searches jobs by title, location,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72768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696212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1696212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69621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GET /api/jobs/search → JSearch API (15-min cache)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135124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258568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258568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2585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ATS SERVICE  </a:t>
            </a:r>
            <a:r>
              <a:rPr sz="900">
                <a:solidFill>
                  <a:srgbClr val="FFFFFF"/>
                </a:solidFill>
              </a:rPr>
              <a:t>TF-IDF cosine similarity (lexical match)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697480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820924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2820924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282092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ATS SERVICE  </a:t>
            </a:r>
            <a:r>
              <a:rPr sz="900">
                <a:solidFill>
                  <a:srgbClr val="FFFFFF"/>
                </a:solidFill>
              </a:rPr>
              <a:t>Sentence-BERT cosine similarity (semantic match)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3259836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383280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4592" y="3383280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33832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ATS SERVICE  </a:t>
            </a:r>
            <a:r>
              <a:rPr sz="900">
                <a:solidFill>
                  <a:srgbClr val="FFFFFF"/>
                </a:solidFill>
              </a:rPr>
              <a:t>Skill overlap + weighted blend → 1–10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3822192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394563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592" y="3945636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394563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FRONTEND  </a:t>
            </a:r>
            <a:r>
              <a:rPr sz="900">
                <a:solidFill>
                  <a:srgbClr val="FFFFFF"/>
                </a:solidFill>
              </a:rPr>
              <a:t>Ranked jobs shown with match-score badge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786384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Example Output — Live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1133856"/>
            <a:ext cx="4434840" cy="33101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match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897204"/>
            <a:ext cx="4215383" cy="178343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80" y="4498848"/>
            <a:ext cx="4434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>
                <a:solidFill>
                  <a:srgbClr val="A8B8C8"/>
                </a:solidFill>
              </a:rPr>
              <a:t>Match Analysis tab — 8/10 score: 80% skill match, 60% keyword, 70% semantic similarity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Flow — Resume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78638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④ Job-Targeted, Non-Fabricated Edit Suggestions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3385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33856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13385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USER  </a:t>
            </a:r>
            <a:r>
              <a:rPr sz="900">
                <a:solidFill>
                  <a:srgbClr val="FFFFFF"/>
                </a:solidFill>
              </a:rPr>
              <a:t>Clicks Optimize Resume for a specific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72768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696212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1696212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69621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POST /api/jobs/optimize-resume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135124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258568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258568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2585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OPTIMIZER  </a:t>
            </a:r>
            <a:r>
              <a:rPr sz="900">
                <a:solidFill>
                  <a:srgbClr val="FFFFFF"/>
                </a:solidFill>
              </a:rPr>
              <a:t>Embeds bullets — places missing skills by best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697480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820924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2820924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282092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OPTIMIZER  </a:t>
            </a:r>
            <a:r>
              <a:rPr sz="900">
                <a:solidFill>
                  <a:srgbClr val="FFFFFF"/>
                </a:solidFill>
              </a:rPr>
              <a:t>Ranks missing skills by term 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3259836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383280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4592" y="3383280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33832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OPTIMIZER  </a:t>
            </a:r>
            <a:r>
              <a:rPr sz="900">
                <a:solidFill>
                  <a:srgbClr val="FFFFFF"/>
                </a:solidFill>
              </a:rPr>
              <a:t>Flags un-quantified bullets (regex digit check)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3822192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394563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592" y="3945636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394563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Rescores before → after, returns optimized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786384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Example Output — Live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1133856"/>
            <a:ext cx="4434840" cy="33101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job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355483"/>
            <a:ext cx="4215383" cy="8668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80" y="4498848"/>
            <a:ext cx="4434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>
                <a:solidFill>
                  <a:srgbClr val="A8B8C8"/>
                </a:solidFill>
              </a:rPr>
              <a:t>Job Board suggestions panel — projected score lift 6/10 → 8/10 if suggestions are applied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 &amp;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4096512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40965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CLIENT SIDE (React 19 + TypeScript SPA)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98448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298448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298448"/>
            <a:ext cx="27980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React Router v7 — public Landing/Login/Register; Dashboard/JobBoard/ProfileSetup behind ProtectedRoute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993391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1993391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993391"/>
            <a:ext cx="27980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TanStack Query (server-state cache) + Zustand (auth identity store)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688335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" y="2688335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API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688335"/>
            <a:ext cx="27980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axios instance — JWT-attaching request interceptor; 401 auto-redirect to Login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383279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" y="3383279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ProfileSetup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383279"/>
            <a:ext cx="27980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Gap-filling form — resume-locked fields disabled; location/experience required via Zod + RHF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4078223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4078223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JobBoard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078223"/>
            <a:ext cx="27980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Job cards with match-score badge; JobDetailModal lazily fetches ATS analysis on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2194560"/>
            <a:ext cx="51206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>
                <a:solidFill>
                  <a:srgbClr val="00B4D8"/>
                </a:solidFill>
              </a:rPr>
              <a:t>HTTPS</a:t>
            </a:r>
          </a:p>
          <a:p>
            <a:pPr algn="ctr"/>
            <a:r>
              <a:rPr sz="800">
                <a:solidFill>
                  <a:srgbClr val="00B4D8"/>
                </a:solidFill>
              </a:rPr>
              <a:t>▶▶</a:t>
            </a:r>
          </a:p>
          <a:p>
            <a:pPr algn="ctr"/>
            <a:r>
              <a:rPr sz="800">
                <a:solidFill>
                  <a:srgbClr val="00B4D8"/>
                </a:solidFill>
              </a:rPr>
              <a:t>REST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82896" y="822960"/>
            <a:ext cx="4096512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82896" y="822960"/>
            <a:ext cx="40965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BACKEND SERVER (FastAPI — Railway)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82896" y="1298448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74336" y="1298448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FastAPI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1298448"/>
            <a:ext cx="252374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7 routers under /api — auth, google, profile, resume, jobs, applications, 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82896" y="1993391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74336" y="1993391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ML Resume Parser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1993391"/>
            <a:ext cx="252374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Regex + fuzzy/TF-IDF segmenter + BERT NER + gazetteer, run via run_in_threadpool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82896" y="2688335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74336" y="2688335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ATS Scoring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2688335"/>
            <a:ext cx="252374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TF-IDF + sentence embeddings + skill overlap → blended 1–10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82896" y="3383279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74336" y="3383279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Resume Optimizer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383279"/>
            <a:ext cx="252374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Reuses ATS scoring; bullet-injection + missing-skill + quantification-gap detection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82896" y="4078223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74336" y="4078223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job_service.py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078223"/>
            <a:ext cx="252374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JSearch API wrapper behind a 15-minute in-memory cache keyed on query params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4592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1298448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React 19.2 + TypeScript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2194560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Vite 8 — build 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4592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" y="3090672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Tailwind CSS v4 + shadcn/ui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64592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" y="3986783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TanStack Query v5 + Zustand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77440" y="822960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77440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05456" y="1298448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Python 3.13 — FastAPI 0.136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77440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05456" y="2194560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Uvicorn ASGI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77440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05456" y="3408369"/>
            <a:ext cx="190195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dirty="0">
                <a:solidFill>
                  <a:srgbClr val="FFFFFF"/>
                </a:solidFill>
              </a:rPr>
              <a:t>SQL Alchemy 2.0 + Alembic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77440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05456" y="3986783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0288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90288" y="822960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AI / NLP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90288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18303" y="1298448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spaCy 3.8 (en_core_web_sm)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90288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18303" y="2194560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scikit-learn 1.5 (TF-IDF, LogReg)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90288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18303" y="3090672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transformers + torch (BERT NER)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90288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90288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18303" y="3986783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Sentence embeddings (MiniLM-L6-v2)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03136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03136" y="822960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Dev &amp; Deployment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03136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03136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31152" y="1298448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Git &amp; GitHub — version control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03136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03136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31152" y="2194560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Railway — backend + PostgreSQL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03136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803136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31152" y="3090672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pwdlib (Argon2) + python-jose (JWT)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03136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803136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31152" y="3986783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Authlib — Google OAuth 2.0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822960"/>
            <a:ext cx="4096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Frontend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88720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8872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225296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ProtectedRoute.tsx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499616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Checks for a stored JWT; redirects unauthenticated users to 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2084832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208483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2121408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services/api.ts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395728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Axios interceptors: attach Bearer JWT; clear token + redirect on 401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980944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980944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3017520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ProfileSetup.tsx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3291840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Gap-filling flow — resume-locked fields disabled, required fields via Zod + RHF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3877056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3877056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3913632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JobBoard / JobDetailModal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187952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Job cards with match badge; modal lazily fetches ATS analysis on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2896" y="822960"/>
            <a:ext cx="4096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Backend Modules (FastAPI)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82896" y="1188720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82896" y="1188720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10912" y="1225296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main.py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1499616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Mounts 7 routers under /api; CORS scoped to frontend origin; creates schema on startup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82896" y="2084832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82896" y="2084832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0912" y="2121408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ml_resume_parser/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2395728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Regex → fuzzy/TF-IDF segmenter → BERT NER → gazetteer, dispatched via run_in_threadpool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82896" y="2980944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82896" y="2980944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10912" y="3017520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ats_service.py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3291840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Blended TF-IDF + semantic + skill-overlap scoring, shared by optimizer 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82896" y="3877056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82896" y="3877056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10912" y="3913632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job_service.py / pdf_service.py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4187952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JSearch cache (15-min TTL) + ReportLab-rendered optimized resume PDF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Testing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Unit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07008"/>
            <a:ext cx="2834640" cy="2926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20700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E8805A"/>
                </a:solidFill>
              </a:rPr>
              <a:t>✓ 14 test cases — all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82296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8229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Integration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207008"/>
            <a:ext cx="2834640" cy="2926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20700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0B4D8"/>
                </a:solidFill>
              </a:rPr>
              <a:t>✓ 10 test cases — all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82296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8229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System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207008"/>
            <a:ext cx="2834640" cy="2926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7" y="120700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E8805A"/>
                </a:solidFill>
              </a:rPr>
              <a:t>✓ End-to-end — all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159105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" y="159105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Regex extraction (email, phone, dates)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206654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2066543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Section header detection + LogReg fallback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2542032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6032" y="2542032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BERT NER — person name extraction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3017520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3017520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Gazetteer skill categorization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3493008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349300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Experience entry splitting by date 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396849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396849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ATS blend score upper/lower bounds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444398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6032" y="4443983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Quantification-gap detection (regex)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159105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159105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Register → login returns JWT + Profile row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206654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46120" y="2066543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Resume upload → profile fields populated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2542032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46120" y="2542032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Job search returns sorted match scores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3017520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46120" y="3017520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ATS analysis → matched/missing skills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3493008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46120" y="349300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Optimize resume → download updated PDF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396849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46120" y="396849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Application status update via Dashboard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444398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46120" y="4443983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Google OAuth callback issues valid JWT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4768" y="159105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36207" y="159105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Varying resume formats (headers, layouts)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06654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7" y="2066543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Common vs. narrow/location job queries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4768" y="2542032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7" y="2542032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Score direction verified as skills change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4768" y="3017520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36207" y="3017520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Boundary: empty upload, 5MB limit, 0 skills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4768" y="3493008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7" y="349300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Error handling: JSearch failure, bad JWT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44768" y="396849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36207" y="396849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Cross-browser manual verification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4592" y="4919472"/>
            <a:ext cx="881481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</a:rPr>
              <a:t>All stated objectives met — parsing, scoring, optimization, auth, tracking &amp; PDF export verified end-to-end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Conclusion &amp; Future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4315968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4315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✓ Project 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98448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4592" y="1298448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132588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Resume Parsing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54533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Regex + fuzzy/TF-IDF segmenter + BERT NER + gazetteer extract structured profiles reliably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901952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92" y="1901952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" y="192938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Blended Match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1488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TF-IDF + sentence embeddings + skill overlap → interpretable 1–10 score, monotonic with overlap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505456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92" y="2505456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253288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Resume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275234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Job-targeted suggestions placed via semantic similarity, never fabricating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3108960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4592" y="3108960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" y="3136392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Dual-Mode 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335584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Argon2 + JWT local auth and Google OAuth 2.0 converge on one session mechanism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3712464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4592" y="3712464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" y="373989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Application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" y="395935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Saved → Applied → Interview → Offer/Rejected transitions verified against the state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4315968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64592" y="4315968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2608" y="43434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Fully Deployed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" y="456285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Packaged for Railway; all config externalized through environment variables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822960"/>
            <a:ext cx="4315968" cy="38404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0" y="822960"/>
            <a:ext cx="4315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🚀 Future Recommendations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1298448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63440" y="1298448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91456" y="131673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Automated Test Suite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1456" y="1517904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pytest-based suite wired into CI to replace manual testing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1760219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63440" y="1760219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91456" y="1778507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Verified App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1456" y="1979676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Corroborate self-reported status via email parsing or ATS webhooks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2221991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663440" y="2221991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91456" y="2240279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Job Alerts 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91456" y="244144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Expose the complete /api/alerts backend through a dedicated UI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2683763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663440" y="2683763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91456" y="2702051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OCR for Scanned Resumes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91456" y="29032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Tesseract fallback for image-only PDF uploads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3145535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663440" y="3145535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91456" y="3163823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Fine-Tuned 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91456" y="3364991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Domain fine-tuning to reduce organization-tag false positives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0" y="3607307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663440" y="3607307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91456" y="3625595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Learned Score Weights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91456" y="3826763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Replace fixed 0.5/0.25/0.25 blend with weights learned from labeled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069079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663440" y="4069079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91456" y="4087367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Employer-Facing Features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91456" y="4288536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An employer portal for posting jobs directly is a natural extension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56032"/>
            <a:ext cx="1005840" cy="914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5486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488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B4D8"/>
                </a:solidFill>
              </a:rPr>
              <a:t>ResuMatrix — Turning One Resume Upload Into a Live-Scored Job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651760"/>
            <a:ext cx="50292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83464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>
                <a:solidFill>
                  <a:srgbClr val="A8B8C8"/>
                </a:solidFill>
              </a:rPr>
              <a:t>Open for 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337560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Alex Phuyal (79010151)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Abishek Khadka (79010149)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Biraj Sapkota (79010173)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A8B8C8"/>
                </a:solidFill>
              </a:rPr>
              <a:t>Supervisor: Er. Akkal Bist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694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96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2084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694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1812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6676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2084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2084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6948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1812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2084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1812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6676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86968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2084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2694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81812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6676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8696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35040" y="164592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Amrit College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Tribhuvan University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377440"/>
            <a:ext cx="2103120" cy="640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35040" y="25146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A8B8C8"/>
                </a:solidFill>
              </a:rPr>
              <a:t>Supervisor:</a:t>
            </a:r>
          </a:p>
          <a:p>
            <a:pPr algn="ctr"/>
            <a:r>
              <a:rPr sz="1200">
                <a:solidFill>
                  <a:srgbClr val="A8B8C8"/>
                </a:solidFill>
              </a:rPr>
              <a:t>Er. Akkal Bist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21868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A8B8C8"/>
                </a:solidFill>
              </a:rPr>
              <a:t>B.Sc. CSIT | July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36576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00B4D8"/>
                </a:solidFill>
              </a:rPr>
              <a:t>github.com/Abishek-khadka01/</a:t>
            </a:r>
          </a:p>
          <a:p>
            <a:pPr algn="ctr"/>
            <a:r>
              <a:rPr sz="1000">
                <a:solidFill>
                  <a:srgbClr val="00B4D8"/>
                </a:solidFill>
              </a:rPr>
              <a:t>resume-parser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1776</Words>
  <Application>Microsoft Office PowerPoint</Application>
  <PresentationFormat>On-screen Show (16:9)</PresentationFormat>
  <Paragraphs>279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Monika Phuyal</cp:lastModifiedBy>
  <cp:revision>2</cp:revision>
  <dcterms:created xsi:type="dcterms:W3CDTF">2013-01-27T09:14:16Z</dcterms:created>
  <dcterms:modified xsi:type="dcterms:W3CDTF">2026-07-04T15:42:29Z</dcterms:modified>
  <cp:category/>
</cp:coreProperties>
</file>